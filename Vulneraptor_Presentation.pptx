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tudent Font" panose="020B0604020202020204" charset="0"/>
      <p:regular r:id="rId15"/>
    </p:embeddedFont>
    <p:embeddedFont>
      <p:font typeface="Gotham" panose="020B0604020202020204" charset="0"/>
      <p:regular r:id="rId16"/>
    </p:embeddedFont>
    <p:embeddedFont>
      <p:font typeface="Gotham Bold" panose="020B0604020202020204" charset="0"/>
      <p:regular r:id="rId17"/>
    </p:embeddedFont>
    <p:embeddedFont>
      <p:font typeface="Gotham Light" panose="020B0604020202020204" charset="0"/>
      <p:regular r:id="rId18"/>
    </p:embeddedFon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  <p:embeddedFont>
      <p:font typeface="Inter Light" panose="020B0604020202020204" charset="0"/>
      <p:regular r:id="rId21"/>
    </p:embeddedFont>
    <p:embeddedFont>
      <p:font typeface="Nunito Bold" panose="020B0604020202020204" charset="0"/>
      <p:regular r:id="rId22"/>
    </p:embeddedFont>
    <p:embeddedFont>
      <p:font typeface="Pattanakarn Bold" panose="020B0604020202020204" charset="-34"/>
      <p:regular r:id="rId23"/>
    </p:embeddedFont>
    <p:embeddedFont>
      <p:font typeface="Pattanakarn Medium" panose="020B0604020202020204" charset="-34"/>
      <p:regular r:id="rId24"/>
    </p:embeddedFont>
    <p:embeddedFont>
      <p:font typeface="Pattanakarn Semi-Bold" panose="020B0604020202020204" charset="-3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180" y="-5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eg"/><Relationship Id="rId7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svg"/><Relationship Id="rId7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7.png"/><Relationship Id="rId5" Type="http://schemas.openxmlformats.org/officeDocument/2006/relationships/image" Target="../media/image9.svg"/><Relationship Id="rId10" Type="http://schemas.openxmlformats.org/officeDocument/2006/relationships/image" Target="../media/image16.svg"/><Relationship Id="rId4" Type="http://schemas.openxmlformats.org/officeDocument/2006/relationships/image" Target="../media/image13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3.svg"/><Relationship Id="rId10" Type="http://schemas.openxmlformats.org/officeDocument/2006/relationships/image" Target="../media/image24.png"/><Relationship Id="rId4" Type="http://schemas.openxmlformats.org/officeDocument/2006/relationships/image" Target="../media/image10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833" r="-15276" b="-7729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-2130475" y="-683825"/>
            <a:ext cx="22334720" cy="10246925"/>
            <a:chOff x="0" y="0"/>
            <a:chExt cx="5882395" cy="26987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82395" cy="2698779"/>
            </a:xfrm>
            <a:custGeom>
              <a:avLst/>
              <a:gdLst/>
              <a:ahLst/>
              <a:cxnLst/>
              <a:rect l="l" t="t" r="r" b="b"/>
              <a:pathLst>
                <a:path w="5882395" h="2698779">
                  <a:moveTo>
                    <a:pt x="0" y="0"/>
                  </a:moveTo>
                  <a:lnTo>
                    <a:pt x="5882395" y="0"/>
                  </a:lnTo>
                  <a:lnTo>
                    <a:pt x="5882395" y="2698779"/>
                  </a:lnTo>
                  <a:lnTo>
                    <a:pt x="0" y="2698779"/>
                  </a:lnTo>
                  <a:close/>
                </a:path>
              </a:pathLst>
            </a:custGeom>
            <a:gradFill rotWithShape="1">
              <a:gsLst>
                <a:gs pos="0">
                  <a:srgbClr val="02051F">
                    <a:alpha val="100000"/>
                  </a:srgbClr>
                </a:gs>
                <a:gs pos="50000">
                  <a:srgbClr val="02051E">
                    <a:alpha val="96000"/>
                  </a:srgbClr>
                </a:gs>
                <a:gs pos="100000">
                  <a:srgbClr val="05699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882395" cy="2679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>
            <a:off x="13510905" y="6450728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7237265" y="0"/>
                </a:moveTo>
                <a:lnTo>
                  <a:pt x="0" y="0"/>
                </a:lnTo>
                <a:lnTo>
                  <a:pt x="0" y="5276624"/>
                </a:lnTo>
                <a:lnTo>
                  <a:pt x="7237265" y="5276624"/>
                </a:lnTo>
                <a:lnTo>
                  <a:pt x="7237265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21052" y="-1160111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6" y="0"/>
                </a:lnTo>
                <a:lnTo>
                  <a:pt x="7237266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3858632" y="-2598237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5" y="0"/>
                </a:lnTo>
                <a:lnTo>
                  <a:pt x="7237265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079266" y="7289391"/>
            <a:ext cx="5977902" cy="2694094"/>
            <a:chOff x="0" y="0"/>
            <a:chExt cx="1668951" cy="7518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68951" cy="751832"/>
            </a:xfrm>
            <a:custGeom>
              <a:avLst/>
              <a:gdLst/>
              <a:ahLst/>
              <a:cxnLst/>
              <a:rect l="l" t="t" r="r" b="b"/>
              <a:pathLst>
                <a:path w="1668951" h="751832">
                  <a:moveTo>
                    <a:pt x="1668951" y="129509"/>
                  </a:moveTo>
                  <a:lnTo>
                    <a:pt x="1668951" y="622323"/>
                  </a:lnTo>
                  <a:cubicBezTo>
                    <a:pt x="1668951" y="693849"/>
                    <a:pt x="1610968" y="751832"/>
                    <a:pt x="1539442" y="751832"/>
                  </a:cubicBezTo>
                  <a:lnTo>
                    <a:pt x="129509" y="751832"/>
                  </a:lnTo>
                  <a:cubicBezTo>
                    <a:pt x="57983" y="751832"/>
                    <a:pt x="0" y="693849"/>
                    <a:pt x="0" y="622323"/>
                  </a:cubicBezTo>
                  <a:lnTo>
                    <a:pt x="0" y="129509"/>
                  </a:lnTo>
                  <a:cubicBezTo>
                    <a:pt x="0" y="57983"/>
                    <a:pt x="57983" y="0"/>
                    <a:pt x="129509" y="0"/>
                  </a:cubicBezTo>
                  <a:lnTo>
                    <a:pt x="1539442" y="0"/>
                  </a:lnTo>
                  <a:cubicBezTo>
                    <a:pt x="1573790" y="0"/>
                    <a:pt x="1606731" y="13645"/>
                    <a:pt x="1631019" y="37932"/>
                  </a:cubicBezTo>
                  <a:cubicBezTo>
                    <a:pt x="1655307" y="62220"/>
                    <a:pt x="1668951" y="95161"/>
                    <a:pt x="1668951" y="129509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668951" cy="732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329345" y="-833195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40"/>
                </a:lnTo>
                <a:lnTo>
                  <a:pt x="0" y="1746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81000" y="8145154"/>
            <a:ext cx="4689937" cy="1196246"/>
            <a:chOff x="0" y="0"/>
            <a:chExt cx="1668951" cy="4255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8951" cy="425510"/>
            </a:xfrm>
            <a:custGeom>
              <a:avLst/>
              <a:gdLst/>
              <a:ahLst/>
              <a:cxnLst/>
              <a:rect l="l" t="t" r="r" b="b"/>
              <a:pathLst>
                <a:path w="1668951" h="425510">
                  <a:moveTo>
                    <a:pt x="1668951" y="165075"/>
                  </a:moveTo>
                  <a:lnTo>
                    <a:pt x="1668951" y="260435"/>
                  </a:lnTo>
                  <a:cubicBezTo>
                    <a:pt x="1668951" y="351604"/>
                    <a:pt x="1595045" y="425510"/>
                    <a:pt x="1503876" y="425510"/>
                  </a:cubicBezTo>
                  <a:lnTo>
                    <a:pt x="165075" y="425510"/>
                  </a:lnTo>
                  <a:cubicBezTo>
                    <a:pt x="73907" y="425510"/>
                    <a:pt x="0" y="351604"/>
                    <a:pt x="0" y="260435"/>
                  </a:cubicBezTo>
                  <a:lnTo>
                    <a:pt x="0" y="165075"/>
                  </a:lnTo>
                  <a:cubicBezTo>
                    <a:pt x="0" y="73907"/>
                    <a:pt x="73907" y="0"/>
                    <a:pt x="165075" y="0"/>
                  </a:cubicBezTo>
                  <a:lnTo>
                    <a:pt x="1503876" y="0"/>
                  </a:lnTo>
                  <a:cubicBezTo>
                    <a:pt x="1547657" y="0"/>
                    <a:pt x="1589644" y="17392"/>
                    <a:pt x="1620602" y="48349"/>
                  </a:cubicBezTo>
                  <a:cubicBezTo>
                    <a:pt x="1651559" y="79307"/>
                    <a:pt x="1668951" y="121294"/>
                    <a:pt x="1668951" y="165075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1668951" cy="406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365905" y="338072"/>
            <a:ext cx="806452" cy="806452"/>
          </a:xfrm>
          <a:custGeom>
            <a:avLst/>
            <a:gdLst/>
            <a:ahLst/>
            <a:cxnLst/>
            <a:rect l="l" t="t" r="r" b="b"/>
            <a:pathLst>
              <a:path w="806452" h="806452">
                <a:moveTo>
                  <a:pt x="0" y="0"/>
                </a:moveTo>
                <a:lnTo>
                  <a:pt x="806452" y="0"/>
                </a:lnTo>
                <a:lnTo>
                  <a:pt x="806452" y="806452"/>
                </a:lnTo>
                <a:lnTo>
                  <a:pt x="0" y="806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363412" y="3494256"/>
            <a:ext cx="1146770" cy="1146770"/>
          </a:xfrm>
          <a:custGeom>
            <a:avLst/>
            <a:gdLst/>
            <a:ahLst/>
            <a:cxnLst/>
            <a:rect l="l" t="t" r="r" b="b"/>
            <a:pathLst>
              <a:path w="1146770" h="1146770">
                <a:moveTo>
                  <a:pt x="0" y="0"/>
                </a:moveTo>
                <a:lnTo>
                  <a:pt x="1146770" y="0"/>
                </a:lnTo>
                <a:lnTo>
                  <a:pt x="1146770" y="1146770"/>
                </a:lnTo>
                <a:lnTo>
                  <a:pt x="0" y="11467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01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852718" y="3415527"/>
            <a:ext cx="13516991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/>
            <a:r>
              <a:rPr lang="en-US" sz="9600" dirty="0" err="1">
                <a:solidFill>
                  <a:schemeClr val="tx2"/>
                </a:solidFill>
              </a:rPr>
              <a:t>Vulneraptor</a:t>
            </a:r>
            <a:endParaRPr lang="en-US" sz="11597" b="1" spc="173" dirty="0">
              <a:solidFill>
                <a:schemeClr val="tx2"/>
              </a:solidFill>
              <a:latin typeface="Pattanakarn Semi-Bold"/>
              <a:ea typeface="Pattanakarn Semi-Bold"/>
              <a:cs typeface="Pattanakarn Semi-Bold"/>
              <a:sym typeface="Pattanakarn Semi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510182" y="5005505"/>
            <a:ext cx="9382526" cy="75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944" spc="44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 Lightweight Web Vulnerability Scanner</a:t>
            </a:r>
          </a:p>
          <a:p>
            <a:pPr marL="0" lvl="0" indent="0" algn="r">
              <a:lnSpc>
                <a:spcPts val="2944"/>
              </a:lnSpc>
            </a:pPr>
            <a:endParaRPr lang="en-US" sz="2944" spc="44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782211" y="7599510"/>
            <a:ext cx="2603302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700" b="1" spc="54">
                <a:solidFill>
                  <a:srgbClr val="03102D"/>
                </a:solidFill>
                <a:latin typeface="Nunito Bold"/>
                <a:ea typeface="Nunito Bold"/>
                <a:cs typeface="Nunito Bold"/>
                <a:sym typeface="Nunito Bold"/>
              </a:rPr>
              <a:t>Team Members: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87229" y="8306951"/>
            <a:ext cx="3701891" cy="127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2500"/>
              </a:lnSpc>
              <a:buFont typeface="Arial"/>
              <a:buChar char="•"/>
            </a:pPr>
            <a:r>
              <a:rPr lang="en-US" sz="2500" spc="50" dirty="0">
                <a:solidFill>
                  <a:srgbClr val="03102D"/>
                </a:solidFill>
                <a:latin typeface="Inter"/>
                <a:ea typeface="Inter"/>
                <a:cs typeface="Inter"/>
                <a:sym typeface="Inter"/>
              </a:rPr>
              <a:t>Khaled Ahmed</a:t>
            </a:r>
          </a:p>
          <a:p>
            <a:pPr marL="539753" lvl="1" indent="-269876" algn="l">
              <a:lnSpc>
                <a:spcPts val="2500"/>
              </a:lnSpc>
              <a:buFont typeface="Arial"/>
              <a:buChar char="•"/>
            </a:pPr>
            <a:r>
              <a:rPr lang="en-US" sz="2500" spc="50" dirty="0">
                <a:solidFill>
                  <a:srgbClr val="03102D"/>
                </a:solidFill>
                <a:latin typeface="Inter Light"/>
                <a:ea typeface="Inter Light"/>
                <a:cs typeface="Inter Light"/>
                <a:sym typeface="Inter Light"/>
              </a:rPr>
              <a:t>Abdelrahman Ahmed</a:t>
            </a:r>
          </a:p>
          <a:p>
            <a:pPr marL="539753" lvl="1" indent="-269876" algn="l">
              <a:lnSpc>
                <a:spcPts val="2500"/>
              </a:lnSpc>
              <a:buFont typeface="Arial"/>
              <a:buChar char="•"/>
            </a:pPr>
            <a:r>
              <a:rPr lang="en-US" sz="2500" spc="50" dirty="0">
                <a:solidFill>
                  <a:srgbClr val="03102D"/>
                </a:solidFill>
                <a:latin typeface="Inter Light"/>
                <a:ea typeface="Inter Light"/>
                <a:cs typeface="Inter Light"/>
                <a:sym typeface="Inter Light"/>
              </a:rPr>
              <a:t>Salma Mahmoud</a:t>
            </a:r>
          </a:p>
          <a:p>
            <a:pPr marL="539753" lvl="1" indent="-269876" algn="l">
              <a:lnSpc>
                <a:spcPts val="2500"/>
              </a:lnSpc>
              <a:buFont typeface="Arial"/>
              <a:buChar char="•"/>
            </a:pPr>
            <a:r>
              <a:rPr lang="en-US" sz="2500" spc="50" dirty="0">
                <a:solidFill>
                  <a:srgbClr val="03102D"/>
                </a:solidFill>
                <a:latin typeface="Inter Light"/>
                <a:ea typeface="Inter Light"/>
                <a:cs typeface="Inter Light"/>
                <a:sym typeface="Inter Light"/>
              </a:rPr>
              <a:t>Sama Mostafa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2508" y="8191355"/>
            <a:ext cx="4035743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 dirty="0">
                <a:solidFill>
                  <a:srgbClr val="03102D"/>
                </a:solidFill>
                <a:latin typeface="Inter Bold"/>
                <a:ea typeface="Inter Bold"/>
                <a:cs typeface="Inter Bold"/>
                <a:sym typeface="Inter Bold"/>
              </a:rPr>
              <a:t>Under the supervision of: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444" y="8578177"/>
            <a:ext cx="3819049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 dirty="0" err="1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Eng.Zeinab</a:t>
            </a:r>
            <a:r>
              <a:rPr lang="en-US" sz="2500" b="1" spc="50" dirty="0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 Mouhamed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7364432">
            <a:off x="14791723" y="6597641"/>
            <a:ext cx="5095729" cy="509572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53058" y="1839064"/>
            <a:ext cx="6126266" cy="7570770"/>
            <a:chOff x="0" y="0"/>
            <a:chExt cx="1460623" cy="18050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0627" cy="1805022"/>
            </a:xfrm>
            <a:custGeom>
              <a:avLst/>
              <a:gdLst/>
              <a:ahLst/>
              <a:cxnLst/>
              <a:rect l="l" t="t" r="r" b="b"/>
              <a:pathLst>
                <a:path w="1460627" h="1805022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3"/>
              <a:stretch>
                <a:fillRect l="-146499" r="-39230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35059" y="901010"/>
            <a:ext cx="3931629" cy="393162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3333" r="-33333"/>
              </a:stretch>
            </a:blipFill>
            <a:ln w="228600" cap="sq">
              <a:gradFill>
                <a:gsLst>
                  <a:gs pos="0">
                    <a:srgbClr val="4ADEDD">
                      <a:alpha val="100000"/>
                    </a:srgbClr>
                  </a:gs>
                  <a:gs pos="100000">
                    <a:srgbClr val="0064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4609861">
            <a:off x="-2217434" y="-1784464"/>
            <a:ext cx="5914219" cy="591421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5727" y="5337396"/>
            <a:ext cx="7668273" cy="866804"/>
            <a:chOff x="0" y="0"/>
            <a:chExt cx="2019627" cy="2282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19627" cy="228294"/>
            </a:xfrm>
            <a:custGeom>
              <a:avLst/>
              <a:gdLst/>
              <a:ahLst/>
              <a:cxnLst/>
              <a:rect l="l" t="t" r="r" b="b"/>
              <a:pathLst>
                <a:path w="2019627" h="228294">
                  <a:moveTo>
                    <a:pt x="100960" y="0"/>
                  </a:moveTo>
                  <a:lnTo>
                    <a:pt x="1918667" y="0"/>
                  </a:lnTo>
                  <a:cubicBezTo>
                    <a:pt x="1974426" y="0"/>
                    <a:pt x="2019627" y="45202"/>
                    <a:pt x="2019627" y="100960"/>
                  </a:cubicBezTo>
                  <a:lnTo>
                    <a:pt x="2019627" y="127334"/>
                  </a:lnTo>
                  <a:cubicBezTo>
                    <a:pt x="2019627" y="183092"/>
                    <a:pt x="1974426" y="228294"/>
                    <a:pt x="1918667" y="228294"/>
                  </a:cubicBezTo>
                  <a:lnTo>
                    <a:pt x="100960" y="228294"/>
                  </a:lnTo>
                  <a:cubicBezTo>
                    <a:pt x="45202" y="228294"/>
                    <a:pt x="0" y="183092"/>
                    <a:pt x="0" y="127334"/>
                  </a:cubicBezTo>
                  <a:lnTo>
                    <a:pt x="0" y="100960"/>
                  </a:lnTo>
                  <a:cubicBezTo>
                    <a:pt x="0" y="45202"/>
                    <a:pt x="45202" y="0"/>
                    <a:pt x="1009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019627" cy="294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5727" y="6541851"/>
            <a:ext cx="7668273" cy="885337"/>
            <a:chOff x="0" y="0"/>
            <a:chExt cx="2019627" cy="2331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19627" cy="233175"/>
            </a:xfrm>
            <a:custGeom>
              <a:avLst/>
              <a:gdLst/>
              <a:ahLst/>
              <a:cxnLst/>
              <a:rect l="l" t="t" r="r" b="b"/>
              <a:pathLst>
                <a:path w="2019627" h="233175">
                  <a:moveTo>
                    <a:pt x="100960" y="0"/>
                  </a:moveTo>
                  <a:lnTo>
                    <a:pt x="1918667" y="0"/>
                  </a:lnTo>
                  <a:cubicBezTo>
                    <a:pt x="1974426" y="0"/>
                    <a:pt x="2019627" y="45202"/>
                    <a:pt x="2019627" y="100960"/>
                  </a:cubicBezTo>
                  <a:lnTo>
                    <a:pt x="2019627" y="132215"/>
                  </a:lnTo>
                  <a:cubicBezTo>
                    <a:pt x="2019627" y="187974"/>
                    <a:pt x="1974426" y="233175"/>
                    <a:pt x="1918667" y="233175"/>
                  </a:cubicBezTo>
                  <a:lnTo>
                    <a:pt x="100960" y="233175"/>
                  </a:lnTo>
                  <a:cubicBezTo>
                    <a:pt x="45202" y="233175"/>
                    <a:pt x="0" y="187974"/>
                    <a:pt x="0" y="132215"/>
                  </a:cubicBezTo>
                  <a:lnTo>
                    <a:pt x="0" y="100960"/>
                  </a:lnTo>
                  <a:cubicBezTo>
                    <a:pt x="0" y="45202"/>
                    <a:pt x="45202" y="0"/>
                    <a:pt x="1009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019627" cy="299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475727" y="3687849"/>
            <a:ext cx="4673381" cy="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475727" y="7865337"/>
            <a:ext cx="7992858" cy="1089198"/>
            <a:chOff x="0" y="0"/>
            <a:chExt cx="2105115" cy="2868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5115" cy="286867"/>
            </a:xfrm>
            <a:custGeom>
              <a:avLst/>
              <a:gdLst/>
              <a:ahLst/>
              <a:cxnLst/>
              <a:rect l="l" t="t" r="r" b="b"/>
              <a:pathLst>
                <a:path w="2105115" h="286867">
                  <a:moveTo>
                    <a:pt x="96860" y="0"/>
                  </a:moveTo>
                  <a:lnTo>
                    <a:pt x="2008255" y="0"/>
                  </a:lnTo>
                  <a:cubicBezTo>
                    <a:pt x="2033943" y="0"/>
                    <a:pt x="2058580" y="10205"/>
                    <a:pt x="2076745" y="28370"/>
                  </a:cubicBezTo>
                  <a:cubicBezTo>
                    <a:pt x="2094910" y="46535"/>
                    <a:pt x="2105115" y="71171"/>
                    <a:pt x="2105115" y="96860"/>
                  </a:cubicBezTo>
                  <a:lnTo>
                    <a:pt x="2105115" y="190007"/>
                  </a:lnTo>
                  <a:cubicBezTo>
                    <a:pt x="2105115" y="243501"/>
                    <a:pt x="2061749" y="286867"/>
                    <a:pt x="2008255" y="286867"/>
                  </a:cubicBezTo>
                  <a:lnTo>
                    <a:pt x="96860" y="286867"/>
                  </a:lnTo>
                  <a:cubicBezTo>
                    <a:pt x="43366" y="286867"/>
                    <a:pt x="0" y="243501"/>
                    <a:pt x="0" y="190007"/>
                  </a:cubicBezTo>
                  <a:lnTo>
                    <a:pt x="0" y="96860"/>
                  </a:lnTo>
                  <a:cubicBezTo>
                    <a:pt x="0" y="43366"/>
                    <a:pt x="43366" y="0"/>
                    <a:pt x="968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2105115" cy="353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0" y="9251254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0" y="0"/>
                </a:moveTo>
                <a:lnTo>
                  <a:pt x="3940181" y="0"/>
                </a:lnTo>
                <a:lnTo>
                  <a:pt x="3940181" y="1035746"/>
                </a:lnTo>
                <a:lnTo>
                  <a:pt x="0" y="1035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056323" y="406684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8"/>
                </a:lnTo>
                <a:lnTo>
                  <a:pt x="0" y="638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266025" y="-845529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39"/>
                </a:lnTo>
                <a:lnTo>
                  <a:pt x="0" y="1746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977744" y="2325268"/>
            <a:ext cx="913513" cy="913513"/>
          </a:xfrm>
          <a:custGeom>
            <a:avLst/>
            <a:gdLst/>
            <a:ahLst/>
            <a:cxnLst/>
            <a:rect l="l" t="t" r="r" b="b"/>
            <a:pathLst>
              <a:path w="913513" h="913513">
                <a:moveTo>
                  <a:pt x="0" y="0"/>
                </a:moveTo>
                <a:lnTo>
                  <a:pt x="913513" y="0"/>
                </a:lnTo>
                <a:lnTo>
                  <a:pt x="913513" y="913513"/>
                </a:lnTo>
                <a:lnTo>
                  <a:pt x="0" y="9135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75727" y="2286724"/>
            <a:ext cx="8916457" cy="1066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 b="1" spc="112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The Problem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5727" y="4120134"/>
            <a:ext cx="9543906" cy="150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spc="36">
                <a:solidFill>
                  <a:srgbClr val="FFFFFF"/>
                </a:solidFill>
                <a:latin typeface="Gotham Light"/>
                <a:ea typeface="Gotham Light"/>
                <a:cs typeface="Gotham Light"/>
                <a:sym typeface="Gotham Light"/>
              </a:rPr>
              <a:t>Web applications can contain multiple security weaknesses that are difficult and time-consuming to identify manually.</a:t>
            </a:r>
          </a:p>
          <a:p>
            <a:pPr algn="l">
              <a:lnSpc>
                <a:spcPts val="2860"/>
              </a:lnSpc>
            </a:pPr>
            <a:endParaRPr lang="en-US" sz="2400" spc="36">
              <a:solidFill>
                <a:srgbClr val="FFFFFF"/>
              </a:solidFill>
              <a:latin typeface="Gotham Light"/>
              <a:ea typeface="Gotham Light"/>
              <a:cs typeface="Gotham Light"/>
              <a:sym typeface="Gotham Light"/>
            </a:endParaRPr>
          </a:p>
          <a:p>
            <a:pPr algn="l">
              <a:lnSpc>
                <a:spcPts val="2860"/>
              </a:lnSpc>
            </a:pPr>
            <a:endParaRPr lang="en-US" sz="2400" spc="36">
              <a:solidFill>
                <a:srgbClr val="FFFFFF"/>
              </a:solidFill>
              <a:latin typeface="Gotham Light"/>
              <a:ea typeface="Gotham Light"/>
              <a:cs typeface="Gotham Light"/>
              <a:sym typeface="Gotham Ligh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5070" y="5503626"/>
            <a:ext cx="7869586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 spc="36">
                <a:solidFill>
                  <a:srgbClr val="03102D"/>
                </a:solidFill>
                <a:latin typeface="Gotham"/>
                <a:ea typeface="Gotham"/>
                <a:cs typeface="Gotham"/>
                <a:sym typeface="Gotham"/>
              </a:rPr>
              <a:t>🔍 Manual reconnaissance is time-consuming</a:t>
            </a:r>
          </a:p>
          <a:p>
            <a:pPr algn="l">
              <a:lnSpc>
                <a:spcPts val="2879"/>
              </a:lnSpc>
            </a:pPr>
            <a:endParaRPr lang="en-US" sz="2400" spc="36">
              <a:solidFill>
                <a:srgbClr val="03102D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671850" y="6732351"/>
            <a:ext cx="915763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5292" lvl="1" indent="-237646" algn="l">
              <a:lnSpc>
                <a:spcPts val="2641"/>
              </a:lnSpc>
              <a:buFont typeface="Arial"/>
              <a:buChar char="•"/>
            </a:pPr>
            <a:r>
              <a:rPr lang="en-US" sz="2201" spc="33">
                <a:solidFill>
                  <a:srgbClr val="03102D"/>
                </a:solidFill>
                <a:latin typeface="Gotham"/>
                <a:ea typeface="Gotham"/>
                <a:cs typeface="Gotham"/>
                <a:sym typeface="Gotham"/>
              </a:rPr>
              <a:t>🧩 Security checks are often performed</a:t>
            </a:r>
          </a:p>
          <a:p>
            <a:pPr algn="l">
              <a:lnSpc>
                <a:spcPts val="2641"/>
              </a:lnSpc>
            </a:pPr>
            <a:r>
              <a:rPr lang="en-US" sz="2201" spc="33">
                <a:solidFill>
                  <a:srgbClr val="03102D"/>
                </a:solidFill>
                <a:latin typeface="Gotham"/>
                <a:ea typeface="Gotham"/>
                <a:cs typeface="Gotham"/>
                <a:sym typeface="Gotham"/>
              </a:rPr>
              <a:t> using multiple tools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71850" y="8143871"/>
            <a:ext cx="7600712" cy="57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03102D"/>
                </a:solidFill>
                <a:latin typeface="Gotham Light"/>
                <a:ea typeface="Gotham Light"/>
                <a:cs typeface="Gotham Light"/>
                <a:sym typeface="Gotham Light"/>
              </a:rPr>
              <a:t>⚠️ Common vulnerabilities and misconfigurations </a:t>
            </a:r>
          </a:p>
          <a:p>
            <a:pPr algn="l">
              <a:lnSpc>
                <a:spcPts val="2200"/>
              </a:lnSpc>
            </a:pPr>
            <a:r>
              <a:rPr lang="en-US" sz="2200" spc="44">
                <a:solidFill>
                  <a:srgbClr val="03102D"/>
                </a:solidFill>
                <a:latin typeface="Gotham Light"/>
                <a:ea typeface="Gotham Light"/>
                <a:cs typeface="Gotham Light"/>
                <a:sym typeface="Gotham Light"/>
              </a:rPr>
              <a:t>can be overlooked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89623" y="9624347"/>
            <a:ext cx="1240512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4ADEDD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→ VulCheck aims to simplify and automate the initial security assessment.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7364432">
            <a:off x="15153201" y="6270665"/>
            <a:ext cx="5095729" cy="509572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4558414">
            <a:off x="6156574" y="-2616985"/>
            <a:ext cx="5095729" cy="50957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795730" y="3475563"/>
            <a:ext cx="4673381" cy="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2508076" y="4014648"/>
            <a:ext cx="1429750" cy="14297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14300" cap="sq">
              <a:gradFill>
                <a:gsLst>
                  <a:gs pos="0">
                    <a:srgbClr val="4ADEDD">
                      <a:alpha val="100000"/>
                    </a:srgbClr>
                  </a:gs>
                  <a:gs pos="100000">
                    <a:srgbClr val="0064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56333" y="3669316"/>
            <a:ext cx="840141" cy="84014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ln w="95250" cap="sq">
              <a:solidFill>
                <a:srgbClr val="03102D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564500" y="3924463"/>
            <a:ext cx="423806" cy="334059"/>
          </a:xfrm>
          <a:custGeom>
            <a:avLst/>
            <a:gdLst/>
            <a:ahLst/>
            <a:cxnLst/>
            <a:rect l="l" t="t" r="r" b="b"/>
            <a:pathLst>
              <a:path w="423806" h="334059">
                <a:moveTo>
                  <a:pt x="0" y="0"/>
                </a:moveTo>
                <a:lnTo>
                  <a:pt x="423806" y="0"/>
                </a:lnTo>
                <a:lnTo>
                  <a:pt x="423806" y="334058"/>
                </a:lnTo>
                <a:lnTo>
                  <a:pt x="0" y="3340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880363" y="6218964"/>
            <a:ext cx="777012" cy="949682"/>
          </a:xfrm>
          <a:custGeom>
            <a:avLst/>
            <a:gdLst/>
            <a:ahLst/>
            <a:cxnLst/>
            <a:rect l="l" t="t" r="r" b="b"/>
            <a:pathLst>
              <a:path w="777012" h="949682">
                <a:moveTo>
                  <a:pt x="0" y="0"/>
                </a:moveTo>
                <a:lnTo>
                  <a:pt x="777012" y="0"/>
                </a:lnTo>
                <a:lnTo>
                  <a:pt x="777012" y="949682"/>
                </a:lnTo>
                <a:lnTo>
                  <a:pt x="0" y="949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5268869" y="466831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3940182" y="0"/>
                </a:moveTo>
                <a:lnTo>
                  <a:pt x="0" y="0"/>
                </a:lnTo>
                <a:lnTo>
                  <a:pt x="0" y="1035746"/>
                </a:lnTo>
                <a:lnTo>
                  <a:pt x="3940182" y="1035746"/>
                </a:lnTo>
                <a:lnTo>
                  <a:pt x="39401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170322" y="9423214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7"/>
                </a:lnTo>
                <a:lnTo>
                  <a:pt x="0" y="638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2802833" y="9517827"/>
            <a:ext cx="1321055" cy="1538347"/>
          </a:xfrm>
          <a:custGeom>
            <a:avLst/>
            <a:gdLst/>
            <a:ahLst/>
            <a:cxnLst/>
            <a:rect l="l" t="t" r="r" b="b"/>
            <a:pathLst>
              <a:path w="1321055" h="1538347">
                <a:moveTo>
                  <a:pt x="0" y="0"/>
                </a:moveTo>
                <a:lnTo>
                  <a:pt x="1321055" y="0"/>
                </a:lnTo>
                <a:lnTo>
                  <a:pt x="1321055" y="1538346"/>
                </a:lnTo>
                <a:lnTo>
                  <a:pt x="0" y="1538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5400000">
            <a:off x="2850533" y="-186740"/>
            <a:ext cx="901365" cy="1049624"/>
          </a:xfrm>
          <a:custGeom>
            <a:avLst/>
            <a:gdLst/>
            <a:ahLst/>
            <a:cxnLst/>
            <a:rect l="l" t="t" r="r" b="b"/>
            <a:pathLst>
              <a:path w="901365" h="1049624">
                <a:moveTo>
                  <a:pt x="0" y="0"/>
                </a:moveTo>
                <a:lnTo>
                  <a:pt x="901365" y="0"/>
                </a:lnTo>
                <a:lnTo>
                  <a:pt x="901365" y="1049624"/>
                </a:lnTo>
                <a:lnTo>
                  <a:pt x="0" y="1049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03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2848728" y="4355301"/>
            <a:ext cx="748445" cy="748445"/>
          </a:xfrm>
          <a:custGeom>
            <a:avLst/>
            <a:gdLst/>
            <a:ahLst/>
            <a:cxnLst/>
            <a:rect l="l" t="t" r="r" b="b"/>
            <a:pathLst>
              <a:path w="748445" h="748445">
                <a:moveTo>
                  <a:pt x="0" y="0"/>
                </a:moveTo>
                <a:lnTo>
                  <a:pt x="748445" y="0"/>
                </a:lnTo>
                <a:lnTo>
                  <a:pt x="748445" y="748445"/>
                </a:lnTo>
                <a:lnTo>
                  <a:pt x="0" y="7484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167523" y="5444398"/>
            <a:ext cx="4267385" cy="989947"/>
            <a:chOff x="0" y="0"/>
            <a:chExt cx="1123920" cy="2607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23920" cy="260727"/>
            </a:xfrm>
            <a:custGeom>
              <a:avLst/>
              <a:gdLst/>
              <a:ahLst/>
              <a:cxnLst/>
              <a:rect l="l" t="t" r="r" b="b"/>
              <a:pathLst>
                <a:path w="1123920" h="260727">
                  <a:moveTo>
                    <a:pt x="92525" y="0"/>
                  </a:moveTo>
                  <a:lnTo>
                    <a:pt x="1031396" y="0"/>
                  </a:lnTo>
                  <a:cubicBezTo>
                    <a:pt x="1055935" y="0"/>
                    <a:pt x="1079469" y="9748"/>
                    <a:pt x="1096821" y="27100"/>
                  </a:cubicBezTo>
                  <a:cubicBezTo>
                    <a:pt x="1114172" y="44452"/>
                    <a:pt x="1123920" y="67986"/>
                    <a:pt x="1123920" y="92525"/>
                  </a:cubicBezTo>
                  <a:lnTo>
                    <a:pt x="1123920" y="168202"/>
                  </a:lnTo>
                  <a:cubicBezTo>
                    <a:pt x="1123920" y="192741"/>
                    <a:pt x="1114172" y="216275"/>
                    <a:pt x="1096821" y="233627"/>
                  </a:cubicBezTo>
                  <a:cubicBezTo>
                    <a:pt x="1079469" y="250979"/>
                    <a:pt x="1055935" y="260727"/>
                    <a:pt x="1031396" y="260727"/>
                  </a:cubicBezTo>
                  <a:lnTo>
                    <a:pt x="92525" y="260727"/>
                  </a:lnTo>
                  <a:cubicBezTo>
                    <a:pt x="67986" y="260727"/>
                    <a:pt x="44452" y="250979"/>
                    <a:pt x="27100" y="233627"/>
                  </a:cubicBezTo>
                  <a:cubicBezTo>
                    <a:pt x="9748" y="216275"/>
                    <a:pt x="0" y="192741"/>
                    <a:pt x="0" y="168202"/>
                  </a:cubicBezTo>
                  <a:lnTo>
                    <a:pt x="0" y="92525"/>
                  </a:lnTo>
                  <a:cubicBezTo>
                    <a:pt x="0" y="67986"/>
                    <a:pt x="9748" y="44452"/>
                    <a:pt x="27100" y="27100"/>
                  </a:cubicBezTo>
                  <a:cubicBezTo>
                    <a:pt x="44452" y="9748"/>
                    <a:pt x="67986" y="0"/>
                    <a:pt x="925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47625"/>
              <a:ext cx="1123920" cy="213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38991" y="4014648"/>
            <a:ext cx="1429750" cy="1429750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14300" cap="sq">
              <a:gradFill>
                <a:gsLst>
                  <a:gs pos="0">
                    <a:srgbClr val="4ADEDD">
                      <a:alpha val="100000"/>
                    </a:srgbClr>
                  </a:gs>
                  <a:gs pos="100000">
                    <a:srgbClr val="0064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787249" y="3669316"/>
            <a:ext cx="840141" cy="840141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ln w="95250" cap="sq">
              <a:solidFill>
                <a:srgbClr val="03102D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7995416" y="3924463"/>
            <a:ext cx="423806" cy="334059"/>
          </a:xfrm>
          <a:custGeom>
            <a:avLst/>
            <a:gdLst/>
            <a:ahLst/>
            <a:cxnLst/>
            <a:rect l="l" t="t" r="r" b="b"/>
            <a:pathLst>
              <a:path w="423806" h="334059">
                <a:moveTo>
                  <a:pt x="0" y="0"/>
                </a:moveTo>
                <a:lnTo>
                  <a:pt x="423806" y="0"/>
                </a:lnTo>
                <a:lnTo>
                  <a:pt x="423806" y="334058"/>
                </a:lnTo>
                <a:lnTo>
                  <a:pt x="0" y="3340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6598438" y="5444398"/>
            <a:ext cx="4298896" cy="1199898"/>
            <a:chOff x="0" y="0"/>
            <a:chExt cx="1132219" cy="31602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32219" cy="316023"/>
            </a:xfrm>
            <a:custGeom>
              <a:avLst/>
              <a:gdLst/>
              <a:ahLst/>
              <a:cxnLst/>
              <a:rect l="l" t="t" r="r" b="b"/>
              <a:pathLst>
                <a:path w="1132219" h="316023">
                  <a:moveTo>
                    <a:pt x="91846" y="0"/>
                  </a:moveTo>
                  <a:lnTo>
                    <a:pt x="1040373" y="0"/>
                  </a:lnTo>
                  <a:cubicBezTo>
                    <a:pt x="1064732" y="0"/>
                    <a:pt x="1088094" y="9677"/>
                    <a:pt x="1105318" y="26901"/>
                  </a:cubicBezTo>
                  <a:cubicBezTo>
                    <a:pt x="1122543" y="44126"/>
                    <a:pt x="1132219" y="67487"/>
                    <a:pt x="1132219" y="91846"/>
                  </a:cubicBezTo>
                  <a:lnTo>
                    <a:pt x="1132219" y="224176"/>
                  </a:lnTo>
                  <a:cubicBezTo>
                    <a:pt x="1132219" y="274902"/>
                    <a:pt x="1091098" y="316023"/>
                    <a:pt x="1040373" y="316023"/>
                  </a:cubicBezTo>
                  <a:lnTo>
                    <a:pt x="91846" y="316023"/>
                  </a:lnTo>
                  <a:cubicBezTo>
                    <a:pt x="41121" y="316023"/>
                    <a:pt x="0" y="274902"/>
                    <a:pt x="0" y="224176"/>
                  </a:cubicBezTo>
                  <a:lnTo>
                    <a:pt x="0" y="91846"/>
                  </a:lnTo>
                  <a:cubicBezTo>
                    <a:pt x="0" y="41121"/>
                    <a:pt x="41121" y="0"/>
                    <a:pt x="918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47625"/>
              <a:ext cx="1132219" cy="268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857629" y="4106318"/>
            <a:ext cx="1429750" cy="142975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14300" cap="sq">
              <a:gradFill>
                <a:gsLst>
                  <a:gs pos="0">
                    <a:srgbClr val="4ADEDD">
                      <a:alpha val="100000"/>
                    </a:srgbClr>
                  </a:gs>
                  <a:gs pos="100000">
                    <a:srgbClr val="0064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705886" y="3760986"/>
            <a:ext cx="840141" cy="840141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ln w="95250" cap="sq">
              <a:solidFill>
                <a:srgbClr val="03102D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3914053" y="4016132"/>
            <a:ext cx="423806" cy="334059"/>
          </a:xfrm>
          <a:custGeom>
            <a:avLst/>
            <a:gdLst/>
            <a:ahLst/>
            <a:cxnLst/>
            <a:rect l="l" t="t" r="r" b="b"/>
            <a:pathLst>
              <a:path w="423806" h="334059">
                <a:moveTo>
                  <a:pt x="0" y="0"/>
                </a:moveTo>
                <a:lnTo>
                  <a:pt x="423806" y="0"/>
                </a:lnTo>
                <a:lnTo>
                  <a:pt x="423806" y="334059"/>
                </a:lnTo>
                <a:lnTo>
                  <a:pt x="0" y="334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6" name="Group 46"/>
          <p:cNvGrpSpPr/>
          <p:nvPr/>
        </p:nvGrpSpPr>
        <p:grpSpPr>
          <a:xfrm>
            <a:off x="11411027" y="5536068"/>
            <a:ext cx="5558762" cy="993527"/>
            <a:chOff x="0" y="0"/>
            <a:chExt cx="1464036" cy="26167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64036" cy="261670"/>
            </a:xfrm>
            <a:custGeom>
              <a:avLst/>
              <a:gdLst/>
              <a:ahLst/>
              <a:cxnLst/>
              <a:rect l="l" t="t" r="r" b="b"/>
              <a:pathLst>
                <a:path w="1464036" h="261670">
                  <a:moveTo>
                    <a:pt x="71030" y="0"/>
                  </a:moveTo>
                  <a:lnTo>
                    <a:pt x="1393006" y="0"/>
                  </a:lnTo>
                  <a:cubicBezTo>
                    <a:pt x="1411845" y="0"/>
                    <a:pt x="1429911" y="7483"/>
                    <a:pt x="1443232" y="20804"/>
                  </a:cubicBezTo>
                  <a:cubicBezTo>
                    <a:pt x="1456553" y="34125"/>
                    <a:pt x="1464036" y="52192"/>
                    <a:pt x="1464036" y="71030"/>
                  </a:cubicBezTo>
                  <a:lnTo>
                    <a:pt x="1464036" y="190640"/>
                  </a:lnTo>
                  <a:cubicBezTo>
                    <a:pt x="1464036" y="209478"/>
                    <a:pt x="1456553" y="227545"/>
                    <a:pt x="1443232" y="240866"/>
                  </a:cubicBezTo>
                  <a:cubicBezTo>
                    <a:pt x="1429911" y="254186"/>
                    <a:pt x="1411845" y="261670"/>
                    <a:pt x="1393006" y="261670"/>
                  </a:cubicBezTo>
                  <a:lnTo>
                    <a:pt x="71030" y="261670"/>
                  </a:lnTo>
                  <a:cubicBezTo>
                    <a:pt x="52192" y="261670"/>
                    <a:pt x="34125" y="254186"/>
                    <a:pt x="20804" y="240866"/>
                  </a:cubicBezTo>
                  <a:cubicBezTo>
                    <a:pt x="7483" y="227545"/>
                    <a:pt x="0" y="209478"/>
                    <a:pt x="0" y="190640"/>
                  </a:cubicBezTo>
                  <a:lnTo>
                    <a:pt x="0" y="71030"/>
                  </a:lnTo>
                  <a:cubicBezTo>
                    <a:pt x="0" y="52192"/>
                    <a:pt x="7483" y="34125"/>
                    <a:pt x="20804" y="20804"/>
                  </a:cubicBezTo>
                  <a:cubicBezTo>
                    <a:pt x="34125" y="7483"/>
                    <a:pt x="52192" y="0"/>
                    <a:pt x="710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8" name="TextBox 48"/>
            <p:cNvSpPr txBox="1"/>
            <p:nvPr/>
          </p:nvSpPr>
          <p:spPr>
            <a:xfrm>
              <a:off x="0" y="47625"/>
              <a:ext cx="1464036" cy="21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49542" y="6874927"/>
            <a:ext cx="1429750" cy="1429750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14300" cap="sq">
              <a:gradFill>
                <a:gsLst>
                  <a:gs pos="0">
                    <a:srgbClr val="4ADEDD">
                      <a:alpha val="100000"/>
                    </a:srgbClr>
                  </a:gs>
                  <a:gs pos="100000">
                    <a:srgbClr val="0064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97799" y="6529595"/>
            <a:ext cx="840141" cy="840141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ln w="95250" cap="sq">
              <a:solidFill>
                <a:srgbClr val="03102D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5" name="Freeform 55"/>
          <p:cNvSpPr/>
          <p:nvPr/>
        </p:nvSpPr>
        <p:spPr>
          <a:xfrm>
            <a:off x="5705967" y="6784741"/>
            <a:ext cx="423806" cy="334059"/>
          </a:xfrm>
          <a:custGeom>
            <a:avLst/>
            <a:gdLst/>
            <a:ahLst/>
            <a:cxnLst/>
            <a:rect l="l" t="t" r="r" b="b"/>
            <a:pathLst>
              <a:path w="423806" h="334059">
                <a:moveTo>
                  <a:pt x="0" y="0"/>
                </a:moveTo>
                <a:lnTo>
                  <a:pt x="423806" y="0"/>
                </a:lnTo>
                <a:lnTo>
                  <a:pt x="423806" y="334059"/>
                </a:lnTo>
                <a:lnTo>
                  <a:pt x="0" y="334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3597173" y="8304677"/>
            <a:ext cx="4979201" cy="1010284"/>
            <a:chOff x="0" y="0"/>
            <a:chExt cx="1311395" cy="26608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311395" cy="266083"/>
            </a:xfrm>
            <a:custGeom>
              <a:avLst/>
              <a:gdLst/>
              <a:ahLst/>
              <a:cxnLst/>
              <a:rect l="l" t="t" r="r" b="b"/>
              <a:pathLst>
                <a:path w="1311395" h="266083">
                  <a:moveTo>
                    <a:pt x="79297" y="0"/>
                  </a:moveTo>
                  <a:lnTo>
                    <a:pt x="1232097" y="0"/>
                  </a:lnTo>
                  <a:cubicBezTo>
                    <a:pt x="1275892" y="0"/>
                    <a:pt x="1311395" y="35503"/>
                    <a:pt x="1311395" y="79297"/>
                  </a:cubicBezTo>
                  <a:lnTo>
                    <a:pt x="1311395" y="186785"/>
                  </a:lnTo>
                  <a:cubicBezTo>
                    <a:pt x="1311395" y="207816"/>
                    <a:pt x="1303040" y="227986"/>
                    <a:pt x="1288169" y="242857"/>
                  </a:cubicBezTo>
                  <a:cubicBezTo>
                    <a:pt x="1273298" y="257728"/>
                    <a:pt x="1253128" y="266083"/>
                    <a:pt x="1232097" y="266083"/>
                  </a:cubicBezTo>
                  <a:lnTo>
                    <a:pt x="79297" y="266083"/>
                  </a:lnTo>
                  <a:cubicBezTo>
                    <a:pt x="58266" y="266083"/>
                    <a:pt x="38097" y="257728"/>
                    <a:pt x="23226" y="242857"/>
                  </a:cubicBezTo>
                  <a:cubicBezTo>
                    <a:pt x="8355" y="227986"/>
                    <a:pt x="0" y="207816"/>
                    <a:pt x="0" y="186785"/>
                  </a:cubicBezTo>
                  <a:lnTo>
                    <a:pt x="0" y="79297"/>
                  </a:lnTo>
                  <a:cubicBezTo>
                    <a:pt x="0" y="58266"/>
                    <a:pt x="8355" y="38097"/>
                    <a:pt x="23226" y="23226"/>
                  </a:cubicBezTo>
                  <a:cubicBezTo>
                    <a:pt x="38097" y="8355"/>
                    <a:pt x="58266" y="0"/>
                    <a:pt x="7929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8" name="TextBox 58"/>
            <p:cNvSpPr txBox="1"/>
            <p:nvPr/>
          </p:nvSpPr>
          <p:spPr>
            <a:xfrm>
              <a:off x="0" y="47625"/>
              <a:ext cx="1311395" cy="21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411027" y="6838604"/>
            <a:ext cx="1429750" cy="1429750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14300" cap="sq">
              <a:gradFill>
                <a:gsLst>
                  <a:gs pos="0">
                    <a:srgbClr val="4ADEDD">
                      <a:alpha val="100000"/>
                    </a:srgbClr>
                  </a:gs>
                  <a:gs pos="100000">
                    <a:srgbClr val="0064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259284" y="6493272"/>
            <a:ext cx="840141" cy="840141"/>
            <a:chOff x="0" y="0"/>
            <a:chExt cx="812800" cy="812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ln w="95250" cap="sq">
              <a:solidFill>
                <a:srgbClr val="03102D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5" name="Freeform 65"/>
          <p:cNvSpPr/>
          <p:nvPr/>
        </p:nvSpPr>
        <p:spPr>
          <a:xfrm>
            <a:off x="11467452" y="6748418"/>
            <a:ext cx="423806" cy="334059"/>
          </a:xfrm>
          <a:custGeom>
            <a:avLst/>
            <a:gdLst/>
            <a:ahLst/>
            <a:cxnLst/>
            <a:rect l="l" t="t" r="r" b="b"/>
            <a:pathLst>
              <a:path w="423806" h="334059">
                <a:moveTo>
                  <a:pt x="0" y="0"/>
                </a:moveTo>
                <a:lnTo>
                  <a:pt x="423806" y="0"/>
                </a:lnTo>
                <a:lnTo>
                  <a:pt x="423806" y="334059"/>
                </a:lnTo>
                <a:lnTo>
                  <a:pt x="0" y="334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6" name="Group 66"/>
          <p:cNvGrpSpPr/>
          <p:nvPr/>
        </p:nvGrpSpPr>
        <p:grpSpPr>
          <a:xfrm>
            <a:off x="9607153" y="8268353"/>
            <a:ext cx="5273210" cy="1055992"/>
            <a:chOff x="0" y="0"/>
            <a:chExt cx="1388829" cy="27812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388829" cy="278121"/>
            </a:xfrm>
            <a:custGeom>
              <a:avLst/>
              <a:gdLst/>
              <a:ahLst/>
              <a:cxnLst/>
              <a:rect l="l" t="t" r="r" b="b"/>
              <a:pathLst>
                <a:path w="1388829" h="278121">
                  <a:moveTo>
                    <a:pt x="74876" y="0"/>
                  </a:moveTo>
                  <a:lnTo>
                    <a:pt x="1313953" y="0"/>
                  </a:lnTo>
                  <a:cubicBezTo>
                    <a:pt x="1333811" y="0"/>
                    <a:pt x="1352856" y="7889"/>
                    <a:pt x="1366898" y="21931"/>
                  </a:cubicBezTo>
                  <a:cubicBezTo>
                    <a:pt x="1380940" y="35973"/>
                    <a:pt x="1388829" y="55018"/>
                    <a:pt x="1388829" y="74876"/>
                  </a:cubicBezTo>
                  <a:lnTo>
                    <a:pt x="1388829" y="203245"/>
                  </a:lnTo>
                  <a:cubicBezTo>
                    <a:pt x="1388829" y="244598"/>
                    <a:pt x="1355306" y="278121"/>
                    <a:pt x="1313953" y="278121"/>
                  </a:cubicBezTo>
                  <a:lnTo>
                    <a:pt x="74876" y="278121"/>
                  </a:lnTo>
                  <a:cubicBezTo>
                    <a:pt x="55018" y="278121"/>
                    <a:pt x="35973" y="270233"/>
                    <a:pt x="21931" y="256191"/>
                  </a:cubicBezTo>
                  <a:cubicBezTo>
                    <a:pt x="7889" y="242149"/>
                    <a:pt x="0" y="223104"/>
                    <a:pt x="0" y="203245"/>
                  </a:cubicBezTo>
                  <a:lnTo>
                    <a:pt x="0" y="74876"/>
                  </a:lnTo>
                  <a:cubicBezTo>
                    <a:pt x="0" y="55018"/>
                    <a:pt x="7889" y="35973"/>
                    <a:pt x="21931" y="21931"/>
                  </a:cubicBezTo>
                  <a:cubicBezTo>
                    <a:pt x="35973" y="7889"/>
                    <a:pt x="55018" y="0"/>
                    <a:pt x="748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8" name="TextBox 68"/>
            <p:cNvSpPr txBox="1"/>
            <p:nvPr/>
          </p:nvSpPr>
          <p:spPr>
            <a:xfrm>
              <a:off x="0" y="47625"/>
              <a:ext cx="1388829" cy="230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69" name="Freeform 69"/>
          <p:cNvSpPr/>
          <p:nvPr/>
        </p:nvSpPr>
        <p:spPr>
          <a:xfrm>
            <a:off x="8259542" y="4350191"/>
            <a:ext cx="788649" cy="788649"/>
          </a:xfrm>
          <a:custGeom>
            <a:avLst/>
            <a:gdLst/>
            <a:ahLst/>
            <a:cxnLst/>
            <a:rect l="l" t="t" r="r" b="b"/>
            <a:pathLst>
              <a:path w="788649" h="788649">
                <a:moveTo>
                  <a:pt x="0" y="0"/>
                </a:moveTo>
                <a:lnTo>
                  <a:pt x="788649" y="0"/>
                </a:lnTo>
                <a:lnTo>
                  <a:pt x="788649" y="788648"/>
                </a:lnTo>
                <a:lnTo>
                  <a:pt x="0" y="7886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5917870" y="7179373"/>
            <a:ext cx="820858" cy="820858"/>
          </a:xfrm>
          <a:custGeom>
            <a:avLst/>
            <a:gdLst/>
            <a:ahLst/>
            <a:cxnLst/>
            <a:rect l="l" t="t" r="r" b="b"/>
            <a:pathLst>
              <a:path w="820858" h="820858">
                <a:moveTo>
                  <a:pt x="0" y="0"/>
                </a:moveTo>
                <a:lnTo>
                  <a:pt x="820858" y="0"/>
                </a:lnTo>
                <a:lnTo>
                  <a:pt x="820858" y="820858"/>
                </a:lnTo>
                <a:lnTo>
                  <a:pt x="0" y="82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11737749" y="7118800"/>
            <a:ext cx="776306" cy="776306"/>
          </a:xfrm>
          <a:custGeom>
            <a:avLst/>
            <a:gdLst/>
            <a:ahLst/>
            <a:cxnLst/>
            <a:rect l="l" t="t" r="r" b="b"/>
            <a:pathLst>
              <a:path w="776306" h="776306">
                <a:moveTo>
                  <a:pt x="0" y="0"/>
                </a:moveTo>
                <a:lnTo>
                  <a:pt x="776306" y="0"/>
                </a:lnTo>
                <a:lnTo>
                  <a:pt x="776306" y="776306"/>
                </a:lnTo>
                <a:lnTo>
                  <a:pt x="0" y="776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72" name="TextBox 72"/>
          <p:cNvSpPr txBox="1"/>
          <p:nvPr/>
        </p:nvSpPr>
        <p:spPr>
          <a:xfrm>
            <a:off x="1475727" y="2256920"/>
            <a:ext cx="9231223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b="1" spc="108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 Project Objectives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12137" y="5663473"/>
            <a:ext cx="4198144" cy="560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Discover open ports,</a:t>
            </a:r>
          </a:p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services, and web endpoints.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811837" y="5663473"/>
            <a:ext cx="3660577" cy="83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Identify common </a:t>
            </a:r>
          </a:p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web security issues such </a:t>
            </a:r>
          </a:p>
          <a:p>
            <a:pPr algn="ctr">
              <a:lnSpc>
                <a:spcPts val="2199"/>
              </a:lnSpc>
              <a:spcBef>
                <a:spcPct val="0"/>
              </a:spcBef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as XSS and SQL Injection.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676043" y="5755143"/>
            <a:ext cx="4867870" cy="111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Check security headers, </a:t>
            </a:r>
          </a:p>
          <a:p>
            <a:pPr algn="ctr">
              <a:lnSpc>
                <a:spcPts val="2199"/>
              </a:lnSpc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cookies, and exposed information.</a:t>
            </a:r>
          </a:p>
          <a:p>
            <a:pPr algn="ctr">
              <a:lnSpc>
                <a:spcPts val="2199"/>
              </a:lnSpc>
            </a:pPr>
            <a:endParaRPr lang="en-US" sz="2199" spc="43">
              <a:solidFill>
                <a:srgbClr val="BFFEF0"/>
              </a:solidFill>
              <a:latin typeface="Gotham Light"/>
              <a:ea typeface="Gotham Light"/>
              <a:cs typeface="Gotham Light"/>
              <a:sym typeface="Gotham Light"/>
            </a:endParaRPr>
          </a:p>
          <a:p>
            <a:pPr algn="ctr">
              <a:lnSpc>
                <a:spcPts val="2199"/>
              </a:lnSpc>
            </a:pPr>
            <a:endParaRPr lang="en-US" sz="2199" spc="43">
              <a:solidFill>
                <a:srgbClr val="BFFEF0"/>
              </a:solidFill>
              <a:latin typeface="Gotham Light"/>
              <a:ea typeface="Gotham Light"/>
              <a:cs typeface="Gotham Light"/>
              <a:sym typeface="Gotham Light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3971485" y="8523752"/>
            <a:ext cx="4287560" cy="111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Collect findings from different</a:t>
            </a:r>
          </a:p>
          <a:p>
            <a:pPr algn="ctr">
              <a:lnSpc>
                <a:spcPts val="2199"/>
              </a:lnSpc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checks in one tool.</a:t>
            </a:r>
          </a:p>
          <a:p>
            <a:pPr algn="ctr">
              <a:lnSpc>
                <a:spcPts val="2199"/>
              </a:lnSpc>
            </a:pPr>
            <a:endParaRPr lang="en-US" sz="2199" spc="43">
              <a:solidFill>
                <a:srgbClr val="BFFEF0"/>
              </a:solidFill>
              <a:latin typeface="Gotham Light"/>
              <a:ea typeface="Gotham Light"/>
              <a:cs typeface="Gotham Light"/>
              <a:sym typeface="Gotham Light"/>
            </a:endParaRPr>
          </a:p>
          <a:p>
            <a:pPr algn="ctr">
              <a:lnSpc>
                <a:spcPts val="2199"/>
              </a:lnSpc>
            </a:pPr>
            <a:endParaRPr lang="en-US" sz="2199" spc="43">
              <a:solidFill>
                <a:srgbClr val="BFFEF0"/>
              </a:solidFill>
              <a:latin typeface="Gotham Light"/>
              <a:ea typeface="Gotham Light"/>
              <a:cs typeface="Gotham Light"/>
              <a:sym typeface="Gotham Light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9321014" y="8487428"/>
            <a:ext cx="5111472" cy="83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Keep the system easy to extend </a:t>
            </a:r>
          </a:p>
          <a:p>
            <a:pPr algn="ctr">
              <a:lnSpc>
                <a:spcPts val="2199"/>
              </a:lnSpc>
            </a:pPr>
            <a:r>
              <a:rPr lang="en-US" sz="2199" spc="43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with new security modules.</a:t>
            </a:r>
          </a:p>
          <a:p>
            <a:pPr algn="ctr">
              <a:lnSpc>
                <a:spcPts val="2199"/>
              </a:lnSpc>
            </a:pPr>
            <a:endParaRPr lang="en-US" sz="2199" spc="43">
              <a:solidFill>
                <a:srgbClr val="BFFEF0"/>
              </a:solidFill>
              <a:latin typeface="Gotham Light"/>
              <a:ea typeface="Gotham Light"/>
              <a:cs typeface="Gotham Light"/>
              <a:sym typeface="Gotham Light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4304936" y="4585657"/>
            <a:ext cx="535135" cy="58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4400" spc="88">
                <a:gradFill>
                  <a:gsLst>
                    <a:gs pos="0">
                      <a:srgbClr val="036899">
                        <a:alpha val="100000"/>
                      </a:srgbClr>
                    </a:gs>
                    <a:gs pos="100000">
                      <a:srgbClr val="02102B">
                        <a:alpha val="100000"/>
                      </a:srgbClr>
                    </a:gs>
                  </a:gsLst>
                  <a:lin ang="0"/>
                </a:gradFill>
                <a:latin typeface="Gotham Light"/>
                <a:ea typeface="Gotham Light"/>
                <a:cs typeface="Gotham Light"/>
                <a:sym typeface="Gotham Light"/>
              </a:rPr>
              <a:t>⚙️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4802396">
            <a:off x="-1991079" y="6207409"/>
            <a:ext cx="6103813" cy="610381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268086">
            <a:off x="12268507" y="-4390193"/>
            <a:ext cx="6860464" cy="686046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243804" y="3208017"/>
            <a:ext cx="6524126" cy="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43804" y="1439592"/>
            <a:ext cx="5199770" cy="174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6184" b="1" spc="92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System </a:t>
            </a:r>
          </a:p>
          <a:p>
            <a:pPr marL="0" lvl="0" indent="0" algn="l">
              <a:lnSpc>
                <a:spcPts val="6803"/>
              </a:lnSpc>
            </a:pPr>
            <a:r>
              <a:rPr lang="en-US" sz="6184" b="1" spc="92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Architecture</a:t>
            </a:r>
          </a:p>
        </p:txBody>
      </p:sp>
      <p:sp>
        <p:nvSpPr>
          <p:cNvPr id="11" name="Freeform 11"/>
          <p:cNvSpPr/>
          <p:nvPr/>
        </p:nvSpPr>
        <p:spPr>
          <a:xfrm flipH="1" flipV="1">
            <a:off x="-794154" y="3312792"/>
            <a:ext cx="5259078" cy="1382442"/>
          </a:xfrm>
          <a:custGeom>
            <a:avLst/>
            <a:gdLst/>
            <a:ahLst/>
            <a:cxnLst/>
            <a:rect l="l" t="t" r="r" b="b"/>
            <a:pathLst>
              <a:path w="5259078" h="1382442">
                <a:moveTo>
                  <a:pt x="5259079" y="1382442"/>
                </a:moveTo>
                <a:lnTo>
                  <a:pt x="0" y="1382442"/>
                </a:lnTo>
                <a:lnTo>
                  <a:pt x="0" y="0"/>
                </a:lnTo>
                <a:lnTo>
                  <a:pt x="5259079" y="0"/>
                </a:lnTo>
                <a:lnTo>
                  <a:pt x="5259079" y="13824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845922" y="9006035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7"/>
                </a:lnTo>
                <a:lnTo>
                  <a:pt x="0" y="638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677211" y="8526639"/>
            <a:ext cx="864933" cy="1007200"/>
          </a:xfrm>
          <a:custGeom>
            <a:avLst/>
            <a:gdLst/>
            <a:ahLst/>
            <a:cxnLst/>
            <a:rect l="l" t="t" r="r" b="b"/>
            <a:pathLst>
              <a:path w="864933" h="1007200">
                <a:moveTo>
                  <a:pt x="0" y="0"/>
                </a:moveTo>
                <a:lnTo>
                  <a:pt x="864933" y="0"/>
                </a:lnTo>
                <a:lnTo>
                  <a:pt x="864933" y="1007200"/>
                </a:lnTo>
                <a:lnTo>
                  <a:pt x="0" y="1007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6598513" y="631026"/>
            <a:ext cx="864933" cy="1007200"/>
          </a:xfrm>
          <a:custGeom>
            <a:avLst/>
            <a:gdLst/>
            <a:ahLst/>
            <a:cxnLst/>
            <a:rect l="l" t="t" r="r" b="b"/>
            <a:pathLst>
              <a:path w="864933" h="1007200">
                <a:moveTo>
                  <a:pt x="0" y="0"/>
                </a:moveTo>
                <a:lnTo>
                  <a:pt x="864933" y="0"/>
                </a:lnTo>
                <a:lnTo>
                  <a:pt x="864933" y="1007200"/>
                </a:lnTo>
                <a:lnTo>
                  <a:pt x="0" y="1007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04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578339" y="376172"/>
            <a:ext cx="13489008" cy="947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TARGET INPUT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IP / Domain / URL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RECON MODULE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WEB TARGETS FOUND?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/             \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YES              NO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│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▼       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XSS SCANNER         Web Checks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  │             Skipped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SQL INJECTION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SCANNER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SECURITY CONFIGURATION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┌─────────┼──────────┐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                │                             │                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Headers   HTTPS/Cookies         Exposed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                                   Services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└─────────┼──────────┘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RESULTS AGGREGATOR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│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    ▼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48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            FINAL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7364432">
            <a:off x="14791723" y="6597641"/>
            <a:ext cx="5095729" cy="509572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53058" y="1839064"/>
            <a:ext cx="6126266" cy="7570770"/>
            <a:chOff x="0" y="0"/>
            <a:chExt cx="1460623" cy="18050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0627" cy="1805022"/>
            </a:xfrm>
            <a:custGeom>
              <a:avLst/>
              <a:gdLst/>
              <a:ahLst/>
              <a:cxnLst/>
              <a:rect l="l" t="t" r="r" b="b"/>
              <a:pathLst>
                <a:path w="1460627" h="1805022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3"/>
              <a:stretch>
                <a:fillRect l="-10314" r="-10314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4609861">
            <a:off x="-2217434" y="-1784464"/>
            <a:ext cx="5914219" cy="59142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46653" y="2977508"/>
            <a:ext cx="5635894" cy="6762232"/>
            <a:chOff x="0" y="0"/>
            <a:chExt cx="1484351" cy="17809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351" cy="1780999"/>
            </a:xfrm>
            <a:custGeom>
              <a:avLst/>
              <a:gdLst/>
              <a:ahLst/>
              <a:cxnLst/>
              <a:rect l="l" t="t" r="r" b="b"/>
              <a:pathLst>
                <a:path w="1484351" h="1780999">
                  <a:moveTo>
                    <a:pt x="137368" y="0"/>
                  </a:moveTo>
                  <a:lnTo>
                    <a:pt x="1346983" y="0"/>
                  </a:lnTo>
                  <a:cubicBezTo>
                    <a:pt x="1383415" y="0"/>
                    <a:pt x="1418355" y="14473"/>
                    <a:pt x="1444117" y="40234"/>
                  </a:cubicBezTo>
                  <a:cubicBezTo>
                    <a:pt x="1469878" y="65996"/>
                    <a:pt x="1484351" y="100936"/>
                    <a:pt x="1484351" y="137368"/>
                  </a:cubicBezTo>
                  <a:lnTo>
                    <a:pt x="1484351" y="1643631"/>
                  </a:lnTo>
                  <a:cubicBezTo>
                    <a:pt x="1484351" y="1680064"/>
                    <a:pt x="1469878" y="1715004"/>
                    <a:pt x="1444117" y="1740765"/>
                  </a:cubicBezTo>
                  <a:cubicBezTo>
                    <a:pt x="1418355" y="1766527"/>
                    <a:pt x="1383415" y="1780999"/>
                    <a:pt x="1346983" y="1780999"/>
                  </a:cubicBezTo>
                  <a:lnTo>
                    <a:pt x="137368" y="1780999"/>
                  </a:lnTo>
                  <a:cubicBezTo>
                    <a:pt x="100936" y="1780999"/>
                    <a:pt x="65996" y="1766527"/>
                    <a:pt x="40234" y="1740765"/>
                  </a:cubicBezTo>
                  <a:cubicBezTo>
                    <a:pt x="14473" y="1715004"/>
                    <a:pt x="0" y="1680064"/>
                    <a:pt x="0" y="1643631"/>
                  </a:cubicBezTo>
                  <a:lnTo>
                    <a:pt x="0" y="137368"/>
                  </a:lnTo>
                  <a:cubicBezTo>
                    <a:pt x="0" y="100936"/>
                    <a:pt x="14473" y="65996"/>
                    <a:pt x="40234" y="40234"/>
                  </a:cubicBezTo>
                  <a:cubicBezTo>
                    <a:pt x="65996" y="14473"/>
                    <a:pt x="100936" y="0"/>
                    <a:pt x="1373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95AC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484351" cy="184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2016961" y="2725874"/>
            <a:ext cx="6188854" cy="19046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-254432" y="8109760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0" y="0"/>
                </a:moveTo>
                <a:lnTo>
                  <a:pt x="3940181" y="0"/>
                </a:lnTo>
                <a:lnTo>
                  <a:pt x="3940181" y="1035746"/>
                </a:lnTo>
                <a:lnTo>
                  <a:pt x="0" y="1035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056323" y="406684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8"/>
                </a:lnTo>
                <a:lnTo>
                  <a:pt x="0" y="638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266025" y="-845529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39"/>
                </a:lnTo>
                <a:lnTo>
                  <a:pt x="0" y="1746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05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987105" y="893756"/>
            <a:ext cx="8290139" cy="183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</a:pPr>
            <a:r>
              <a:rPr lang="en-US" sz="6508" b="1" spc="97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Reconnaissance Module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92219" y="3255906"/>
            <a:ext cx="3474839" cy="611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Target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IP / Domain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Nmap Port Scan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Open Ports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Service Detection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  Services + Versions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HTTP Recon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Headers + Server Info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Endpoint Crawling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Discovered URLs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OS Clues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Discovered URLs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Recon Results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OS Clues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7364432">
            <a:off x="15153201" y="6270665"/>
            <a:ext cx="5095729" cy="509572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4558414">
            <a:off x="6156574" y="-2616985"/>
            <a:ext cx="5095729" cy="50957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828800" y="2667876"/>
            <a:ext cx="4673381" cy="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 flipH="1">
            <a:off x="15178895" y="159640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3940181" y="0"/>
                </a:moveTo>
                <a:lnTo>
                  <a:pt x="0" y="0"/>
                </a:lnTo>
                <a:lnTo>
                  <a:pt x="0" y="1035746"/>
                </a:lnTo>
                <a:lnTo>
                  <a:pt x="3940181" y="1035746"/>
                </a:lnTo>
                <a:lnTo>
                  <a:pt x="39401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999122" y="1421911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8"/>
                </a:lnTo>
                <a:lnTo>
                  <a:pt x="0" y="638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2392277" y="9292458"/>
            <a:ext cx="1321055" cy="1538347"/>
          </a:xfrm>
          <a:custGeom>
            <a:avLst/>
            <a:gdLst/>
            <a:ahLst/>
            <a:cxnLst/>
            <a:rect l="l" t="t" r="r" b="b"/>
            <a:pathLst>
              <a:path w="1321055" h="1538347">
                <a:moveTo>
                  <a:pt x="0" y="0"/>
                </a:moveTo>
                <a:lnTo>
                  <a:pt x="1321055" y="0"/>
                </a:lnTo>
                <a:lnTo>
                  <a:pt x="1321055" y="1538346"/>
                </a:lnTo>
                <a:lnTo>
                  <a:pt x="0" y="1538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-37492" y="-157878"/>
            <a:ext cx="901365" cy="1049624"/>
          </a:xfrm>
          <a:custGeom>
            <a:avLst/>
            <a:gdLst/>
            <a:ahLst/>
            <a:cxnLst/>
            <a:rect l="l" t="t" r="r" b="b"/>
            <a:pathLst>
              <a:path w="901365" h="1049624">
                <a:moveTo>
                  <a:pt x="0" y="0"/>
                </a:moveTo>
                <a:lnTo>
                  <a:pt x="901365" y="0"/>
                </a:lnTo>
                <a:lnTo>
                  <a:pt x="901365" y="1049624"/>
                </a:lnTo>
                <a:lnTo>
                  <a:pt x="0" y="1049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707743" y="2724176"/>
            <a:ext cx="1230942" cy="505805"/>
          </a:xfrm>
          <a:custGeom>
            <a:avLst/>
            <a:gdLst/>
            <a:ahLst/>
            <a:cxnLst/>
            <a:rect l="l" t="t" r="r" b="b"/>
            <a:pathLst>
              <a:path w="1230942" h="505805">
                <a:moveTo>
                  <a:pt x="0" y="0"/>
                </a:moveTo>
                <a:lnTo>
                  <a:pt x="1230943" y="0"/>
                </a:lnTo>
                <a:lnTo>
                  <a:pt x="1230943" y="505806"/>
                </a:lnTo>
                <a:lnTo>
                  <a:pt x="0" y="505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83995" y="2509836"/>
            <a:ext cx="969749" cy="934485"/>
          </a:xfrm>
          <a:custGeom>
            <a:avLst/>
            <a:gdLst/>
            <a:ahLst/>
            <a:cxnLst/>
            <a:rect l="l" t="t" r="r" b="b"/>
            <a:pathLst>
              <a:path w="969749" h="934485">
                <a:moveTo>
                  <a:pt x="0" y="0"/>
                </a:moveTo>
                <a:lnTo>
                  <a:pt x="969749" y="0"/>
                </a:lnTo>
                <a:lnTo>
                  <a:pt x="969749" y="934486"/>
                </a:lnTo>
                <a:lnTo>
                  <a:pt x="0" y="93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28800" y="2857113"/>
            <a:ext cx="4266080" cy="2691269"/>
            <a:chOff x="0" y="0"/>
            <a:chExt cx="1123577" cy="7088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23577" cy="708812"/>
            </a:xfrm>
            <a:custGeom>
              <a:avLst/>
              <a:gdLst/>
              <a:ahLst/>
              <a:cxnLst/>
              <a:rect l="l" t="t" r="r" b="b"/>
              <a:pathLst>
                <a:path w="1123577" h="708812">
                  <a:moveTo>
                    <a:pt x="92553" y="0"/>
                  </a:moveTo>
                  <a:lnTo>
                    <a:pt x="1031024" y="0"/>
                  </a:lnTo>
                  <a:cubicBezTo>
                    <a:pt x="1055570" y="0"/>
                    <a:pt x="1079111" y="9751"/>
                    <a:pt x="1096468" y="27108"/>
                  </a:cubicBezTo>
                  <a:cubicBezTo>
                    <a:pt x="1113826" y="44465"/>
                    <a:pt x="1123577" y="68006"/>
                    <a:pt x="1123577" y="92553"/>
                  </a:cubicBezTo>
                  <a:lnTo>
                    <a:pt x="1123577" y="616259"/>
                  </a:lnTo>
                  <a:cubicBezTo>
                    <a:pt x="1123577" y="640805"/>
                    <a:pt x="1113826" y="664346"/>
                    <a:pt x="1096468" y="681703"/>
                  </a:cubicBezTo>
                  <a:cubicBezTo>
                    <a:pt x="1079111" y="699060"/>
                    <a:pt x="1055570" y="708812"/>
                    <a:pt x="1031024" y="708812"/>
                  </a:cubicBezTo>
                  <a:lnTo>
                    <a:pt x="92553" y="708812"/>
                  </a:lnTo>
                  <a:cubicBezTo>
                    <a:pt x="68006" y="708812"/>
                    <a:pt x="44465" y="699060"/>
                    <a:pt x="27108" y="681703"/>
                  </a:cubicBezTo>
                  <a:cubicBezTo>
                    <a:pt x="9751" y="664346"/>
                    <a:pt x="0" y="640805"/>
                    <a:pt x="0" y="616259"/>
                  </a:cubicBezTo>
                  <a:lnTo>
                    <a:pt x="0" y="92553"/>
                  </a:lnTo>
                  <a:cubicBezTo>
                    <a:pt x="0" y="68006"/>
                    <a:pt x="9751" y="44465"/>
                    <a:pt x="27108" y="27108"/>
                  </a:cubicBezTo>
                  <a:cubicBezTo>
                    <a:pt x="44465" y="9751"/>
                    <a:pt x="68006" y="0"/>
                    <a:pt x="925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1123577" cy="661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00018" y="5853182"/>
            <a:ext cx="4349497" cy="2694835"/>
            <a:chOff x="0" y="0"/>
            <a:chExt cx="1145547" cy="70975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5547" cy="709751"/>
            </a:xfrm>
            <a:custGeom>
              <a:avLst/>
              <a:gdLst/>
              <a:ahLst/>
              <a:cxnLst/>
              <a:rect l="l" t="t" r="r" b="b"/>
              <a:pathLst>
                <a:path w="1145547" h="709751">
                  <a:moveTo>
                    <a:pt x="90778" y="0"/>
                  </a:moveTo>
                  <a:lnTo>
                    <a:pt x="1054769" y="0"/>
                  </a:lnTo>
                  <a:cubicBezTo>
                    <a:pt x="1078845" y="0"/>
                    <a:pt x="1101934" y="9564"/>
                    <a:pt x="1118958" y="26588"/>
                  </a:cubicBezTo>
                  <a:cubicBezTo>
                    <a:pt x="1135983" y="43612"/>
                    <a:pt x="1145547" y="66702"/>
                    <a:pt x="1145547" y="90778"/>
                  </a:cubicBezTo>
                  <a:lnTo>
                    <a:pt x="1145547" y="618973"/>
                  </a:lnTo>
                  <a:cubicBezTo>
                    <a:pt x="1145547" y="669108"/>
                    <a:pt x="1104904" y="709751"/>
                    <a:pt x="1054769" y="709751"/>
                  </a:cubicBezTo>
                  <a:lnTo>
                    <a:pt x="90778" y="709751"/>
                  </a:lnTo>
                  <a:cubicBezTo>
                    <a:pt x="40643" y="709751"/>
                    <a:pt x="0" y="669108"/>
                    <a:pt x="0" y="618973"/>
                  </a:cubicBezTo>
                  <a:lnTo>
                    <a:pt x="0" y="90778"/>
                  </a:lnTo>
                  <a:cubicBezTo>
                    <a:pt x="0" y="40643"/>
                    <a:pt x="40643" y="0"/>
                    <a:pt x="907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47625"/>
              <a:ext cx="1145547" cy="662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50993" y="2977079"/>
            <a:ext cx="4192910" cy="2571303"/>
            <a:chOff x="0" y="0"/>
            <a:chExt cx="1104306" cy="6772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4306" cy="677216"/>
            </a:xfrm>
            <a:custGeom>
              <a:avLst/>
              <a:gdLst/>
              <a:ahLst/>
              <a:cxnLst/>
              <a:rect l="l" t="t" r="r" b="b"/>
              <a:pathLst>
                <a:path w="1104306" h="677216">
                  <a:moveTo>
                    <a:pt x="94168" y="0"/>
                  </a:moveTo>
                  <a:lnTo>
                    <a:pt x="1010138" y="0"/>
                  </a:lnTo>
                  <a:cubicBezTo>
                    <a:pt x="1062145" y="0"/>
                    <a:pt x="1104306" y="42160"/>
                    <a:pt x="1104306" y="94168"/>
                  </a:cubicBezTo>
                  <a:lnTo>
                    <a:pt x="1104306" y="583048"/>
                  </a:lnTo>
                  <a:cubicBezTo>
                    <a:pt x="1104306" y="608023"/>
                    <a:pt x="1094384" y="631975"/>
                    <a:pt x="1076724" y="649634"/>
                  </a:cubicBezTo>
                  <a:cubicBezTo>
                    <a:pt x="1059064" y="667294"/>
                    <a:pt x="1035112" y="677216"/>
                    <a:pt x="1010138" y="677216"/>
                  </a:cubicBezTo>
                  <a:lnTo>
                    <a:pt x="94168" y="677216"/>
                  </a:lnTo>
                  <a:cubicBezTo>
                    <a:pt x="69193" y="677216"/>
                    <a:pt x="45241" y="667294"/>
                    <a:pt x="27581" y="649634"/>
                  </a:cubicBezTo>
                  <a:cubicBezTo>
                    <a:pt x="9921" y="631975"/>
                    <a:pt x="0" y="608023"/>
                    <a:pt x="0" y="583048"/>
                  </a:cubicBezTo>
                  <a:lnTo>
                    <a:pt x="0" y="94168"/>
                  </a:lnTo>
                  <a:cubicBezTo>
                    <a:pt x="0" y="69193"/>
                    <a:pt x="9921" y="45241"/>
                    <a:pt x="27581" y="27581"/>
                  </a:cubicBezTo>
                  <a:cubicBezTo>
                    <a:pt x="45241" y="9921"/>
                    <a:pt x="69193" y="0"/>
                    <a:pt x="941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47625"/>
              <a:ext cx="1104306" cy="629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23455" y="5853182"/>
            <a:ext cx="4192910" cy="2694835"/>
            <a:chOff x="0" y="0"/>
            <a:chExt cx="1104306" cy="70975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04306" cy="709751"/>
            </a:xfrm>
            <a:custGeom>
              <a:avLst/>
              <a:gdLst/>
              <a:ahLst/>
              <a:cxnLst/>
              <a:rect l="l" t="t" r="r" b="b"/>
              <a:pathLst>
                <a:path w="1104306" h="709751">
                  <a:moveTo>
                    <a:pt x="94168" y="0"/>
                  </a:moveTo>
                  <a:lnTo>
                    <a:pt x="1010138" y="0"/>
                  </a:lnTo>
                  <a:cubicBezTo>
                    <a:pt x="1062145" y="0"/>
                    <a:pt x="1104306" y="42160"/>
                    <a:pt x="1104306" y="94168"/>
                  </a:cubicBezTo>
                  <a:lnTo>
                    <a:pt x="1104306" y="615583"/>
                  </a:lnTo>
                  <a:cubicBezTo>
                    <a:pt x="1104306" y="640558"/>
                    <a:pt x="1094384" y="664510"/>
                    <a:pt x="1076724" y="682170"/>
                  </a:cubicBezTo>
                  <a:cubicBezTo>
                    <a:pt x="1059064" y="699829"/>
                    <a:pt x="1035112" y="709751"/>
                    <a:pt x="1010138" y="709751"/>
                  </a:cubicBezTo>
                  <a:lnTo>
                    <a:pt x="94168" y="709751"/>
                  </a:lnTo>
                  <a:cubicBezTo>
                    <a:pt x="69193" y="709751"/>
                    <a:pt x="45241" y="699829"/>
                    <a:pt x="27581" y="682170"/>
                  </a:cubicBezTo>
                  <a:cubicBezTo>
                    <a:pt x="9921" y="664510"/>
                    <a:pt x="0" y="640558"/>
                    <a:pt x="0" y="615583"/>
                  </a:cubicBezTo>
                  <a:lnTo>
                    <a:pt x="0" y="94168"/>
                  </a:lnTo>
                  <a:cubicBezTo>
                    <a:pt x="0" y="69193"/>
                    <a:pt x="9921" y="45241"/>
                    <a:pt x="27581" y="27581"/>
                  </a:cubicBezTo>
                  <a:cubicBezTo>
                    <a:pt x="45241" y="9921"/>
                    <a:pt x="69193" y="0"/>
                    <a:pt x="941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47625"/>
              <a:ext cx="1104306" cy="662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2008749" y="6243665"/>
            <a:ext cx="432149" cy="432149"/>
          </a:xfrm>
          <a:custGeom>
            <a:avLst/>
            <a:gdLst/>
            <a:ahLst/>
            <a:cxnLst/>
            <a:rect l="l" t="t" r="r" b="b"/>
            <a:pathLst>
              <a:path w="432149" h="432149">
                <a:moveTo>
                  <a:pt x="0" y="0"/>
                </a:moveTo>
                <a:lnTo>
                  <a:pt x="432149" y="0"/>
                </a:lnTo>
                <a:lnTo>
                  <a:pt x="432149" y="432149"/>
                </a:lnTo>
                <a:lnTo>
                  <a:pt x="0" y="4321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478120" y="3265042"/>
            <a:ext cx="481196" cy="481196"/>
          </a:xfrm>
          <a:custGeom>
            <a:avLst/>
            <a:gdLst/>
            <a:ahLst/>
            <a:cxnLst/>
            <a:rect l="l" t="t" r="r" b="b"/>
            <a:pathLst>
              <a:path w="481196" h="481196">
                <a:moveTo>
                  <a:pt x="0" y="0"/>
                </a:moveTo>
                <a:lnTo>
                  <a:pt x="481196" y="0"/>
                </a:lnTo>
                <a:lnTo>
                  <a:pt x="481196" y="481195"/>
                </a:lnTo>
                <a:lnTo>
                  <a:pt x="0" y="4811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7622137" y="6091307"/>
            <a:ext cx="490678" cy="490678"/>
          </a:xfrm>
          <a:custGeom>
            <a:avLst/>
            <a:gdLst/>
            <a:ahLst/>
            <a:cxnLst/>
            <a:rect l="l" t="t" r="r" b="b"/>
            <a:pathLst>
              <a:path w="490678" h="490678">
                <a:moveTo>
                  <a:pt x="0" y="0"/>
                </a:moveTo>
                <a:lnTo>
                  <a:pt x="490678" y="0"/>
                </a:lnTo>
                <a:lnTo>
                  <a:pt x="490678" y="490678"/>
                </a:lnTo>
                <a:lnTo>
                  <a:pt x="0" y="4906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0" y="613893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529486" y="1128013"/>
            <a:ext cx="4644212" cy="5463778"/>
          </a:xfrm>
          <a:custGeom>
            <a:avLst/>
            <a:gdLst/>
            <a:ahLst/>
            <a:cxnLst/>
            <a:rect l="l" t="t" r="r" b="b"/>
            <a:pathLst>
              <a:path w="4644212" h="5463778">
                <a:moveTo>
                  <a:pt x="0" y="0"/>
                </a:moveTo>
                <a:lnTo>
                  <a:pt x="4644211" y="0"/>
                </a:lnTo>
                <a:lnTo>
                  <a:pt x="4644211" y="5463778"/>
                </a:lnTo>
                <a:lnTo>
                  <a:pt x="0" y="5463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12502364" y="3859902"/>
            <a:ext cx="4794283" cy="4336430"/>
            <a:chOff x="0" y="0"/>
            <a:chExt cx="1262692" cy="114210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62692" cy="1142105"/>
            </a:xfrm>
            <a:custGeom>
              <a:avLst/>
              <a:gdLst/>
              <a:ahLst/>
              <a:cxnLst/>
              <a:rect l="l" t="t" r="r" b="b"/>
              <a:pathLst>
                <a:path w="1262692" h="1142105">
                  <a:moveTo>
                    <a:pt x="82356" y="0"/>
                  </a:moveTo>
                  <a:lnTo>
                    <a:pt x="1180336" y="0"/>
                  </a:lnTo>
                  <a:cubicBezTo>
                    <a:pt x="1225820" y="0"/>
                    <a:pt x="1262692" y="36872"/>
                    <a:pt x="1262692" y="82356"/>
                  </a:cubicBezTo>
                  <a:lnTo>
                    <a:pt x="1262692" y="1059749"/>
                  </a:lnTo>
                  <a:cubicBezTo>
                    <a:pt x="1262692" y="1105233"/>
                    <a:pt x="1225820" y="1142105"/>
                    <a:pt x="1180336" y="1142105"/>
                  </a:cubicBezTo>
                  <a:lnTo>
                    <a:pt x="82356" y="1142105"/>
                  </a:lnTo>
                  <a:cubicBezTo>
                    <a:pt x="36872" y="1142105"/>
                    <a:pt x="0" y="1105233"/>
                    <a:pt x="0" y="1059749"/>
                  </a:cubicBezTo>
                  <a:lnTo>
                    <a:pt x="0" y="82356"/>
                  </a:lnTo>
                  <a:cubicBezTo>
                    <a:pt x="0" y="36872"/>
                    <a:pt x="36872" y="0"/>
                    <a:pt x="82356" y="0"/>
                  </a:cubicBezTo>
                  <a:close/>
                </a:path>
              </a:pathLst>
            </a:custGeom>
            <a:solidFill>
              <a:srgbClr val="112D4C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47625"/>
              <a:ext cx="1262692" cy="1094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791287" y="572374"/>
            <a:ext cx="8916457" cy="21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 b="1" spc="112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Vulnerability Detection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00018" y="3268082"/>
            <a:ext cx="3786216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🌐 Web Vulnerabilities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08749" y="3612252"/>
            <a:ext cx="4086131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XSS Detection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8749" y="4254475"/>
            <a:ext cx="4086131" cy="76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Tests user-controlled inputs</a:t>
            </a:r>
          </a:p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Identifies potential script injection points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58422" y="6281765"/>
            <a:ext cx="3867001" cy="59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4ADEDD"/>
                </a:solidFill>
                <a:latin typeface="Gotham Light"/>
                <a:ea typeface="Gotham Light"/>
                <a:cs typeface="Gotham Light"/>
                <a:sym typeface="Gotham Light"/>
              </a:rPr>
              <a:t> </a:t>
            </a: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Database Security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  SQL Injection Detection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103944" y="7088849"/>
            <a:ext cx="3715792" cy="101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Tests parameters for SQL</a:t>
            </a:r>
          </a:p>
          <a:p>
            <a:pPr algn="l">
              <a:lnSpc>
                <a:spcPts val="2000"/>
              </a:lnSpc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injection indicators</a:t>
            </a:r>
          </a:p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Analyzes application </a:t>
            </a:r>
          </a:p>
          <a:p>
            <a:pPr algn="l">
              <a:lnSpc>
                <a:spcPts val="2000"/>
              </a:lnSpc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  responses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59316" y="3268082"/>
            <a:ext cx="3476179" cy="59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Security Configuration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       Security Headers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18718" y="4254475"/>
            <a:ext cx="3602385" cy="101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Checks important HTTP </a:t>
            </a:r>
          </a:p>
          <a:p>
            <a:pPr algn="l">
              <a:lnSpc>
                <a:spcPts val="2000"/>
              </a:lnSpc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security headers</a:t>
            </a:r>
          </a:p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Identifies missing</a:t>
            </a:r>
          </a:p>
          <a:p>
            <a:pPr algn="l">
              <a:lnSpc>
                <a:spcPts val="2000"/>
              </a:lnSpc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     protections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12815" y="6129407"/>
            <a:ext cx="2814191" cy="59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Session Security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    Cookie Analysis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00950" y="6902160"/>
            <a:ext cx="4192910" cy="101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Reviews cookie security attributes</a:t>
            </a:r>
          </a:p>
          <a:p>
            <a:pPr marL="431805" lvl="1" indent="-215903" algn="l">
              <a:lnSpc>
                <a:spcPts val="2000"/>
              </a:lnSpc>
              <a:buFont typeface="Arial"/>
              <a:buChar char="•"/>
            </a:pPr>
            <a:r>
              <a:rPr lang="en-US" sz="2000" spc="4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Detects missing security flags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689412" y="4347597"/>
            <a:ext cx="4349115" cy="3473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Recon Data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   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  ↓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Input / Response Analysis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     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↓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endParaRPr lang="en-US" sz="2500" b="1" spc="50">
              <a:solidFill>
                <a:srgbClr val="BFFEF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Vulnerability Checks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     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↓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Findings + Severity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802396">
            <a:off x="-2199349" y="6236405"/>
            <a:ext cx="6103813" cy="61038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268086">
            <a:off x="12268507" y="-4390193"/>
            <a:ext cx="6860464" cy="68604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949203" y="2892912"/>
            <a:ext cx="12674408" cy="1905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 flipH="1" flipV="1">
            <a:off x="-485115" y="-475317"/>
            <a:ext cx="5259078" cy="1382442"/>
          </a:xfrm>
          <a:custGeom>
            <a:avLst/>
            <a:gdLst/>
            <a:ahLst/>
            <a:cxnLst/>
            <a:rect l="l" t="t" r="r" b="b"/>
            <a:pathLst>
              <a:path w="5259078" h="1382442">
                <a:moveTo>
                  <a:pt x="5259078" y="1382442"/>
                </a:moveTo>
                <a:lnTo>
                  <a:pt x="0" y="1382442"/>
                </a:lnTo>
                <a:lnTo>
                  <a:pt x="0" y="0"/>
                </a:lnTo>
                <a:lnTo>
                  <a:pt x="5259078" y="0"/>
                </a:lnTo>
                <a:lnTo>
                  <a:pt x="5259078" y="13824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17385" y="9310387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7"/>
                </a:lnTo>
                <a:lnTo>
                  <a:pt x="0" y="638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92633" y="9350933"/>
            <a:ext cx="864933" cy="1007200"/>
          </a:xfrm>
          <a:custGeom>
            <a:avLst/>
            <a:gdLst/>
            <a:ahLst/>
            <a:cxnLst/>
            <a:rect l="l" t="t" r="r" b="b"/>
            <a:pathLst>
              <a:path w="864933" h="1007200">
                <a:moveTo>
                  <a:pt x="0" y="0"/>
                </a:moveTo>
                <a:lnTo>
                  <a:pt x="864933" y="0"/>
                </a:lnTo>
                <a:lnTo>
                  <a:pt x="864933" y="1007201"/>
                </a:lnTo>
                <a:lnTo>
                  <a:pt x="0" y="1007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7330434" y="-28942"/>
            <a:ext cx="864933" cy="1007200"/>
          </a:xfrm>
          <a:custGeom>
            <a:avLst/>
            <a:gdLst/>
            <a:ahLst/>
            <a:cxnLst/>
            <a:rect l="l" t="t" r="r" b="b"/>
            <a:pathLst>
              <a:path w="864933" h="1007200">
                <a:moveTo>
                  <a:pt x="0" y="0"/>
                </a:moveTo>
                <a:lnTo>
                  <a:pt x="864933" y="0"/>
                </a:lnTo>
                <a:lnTo>
                  <a:pt x="864933" y="1007200"/>
                </a:lnTo>
                <a:lnTo>
                  <a:pt x="0" y="1007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07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00950" y="3752850"/>
            <a:ext cx="4538489" cy="2709562"/>
            <a:chOff x="0" y="0"/>
            <a:chExt cx="1195322" cy="7136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5322" cy="713629"/>
            </a:xfrm>
            <a:custGeom>
              <a:avLst/>
              <a:gdLst/>
              <a:ahLst/>
              <a:cxnLst/>
              <a:rect l="l" t="t" r="r" b="b"/>
              <a:pathLst>
                <a:path w="1195322" h="713629">
                  <a:moveTo>
                    <a:pt x="86998" y="0"/>
                  </a:moveTo>
                  <a:lnTo>
                    <a:pt x="1108324" y="0"/>
                  </a:lnTo>
                  <a:cubicBezTo>
                    <a:pt x="1131398" y="0"/>
                    <a:pt x="1153526" y="9166"/>
                    <a:pt x="1169841" y="25481"/>
                  </a:cubicBezTo>
                  <a:cubicBezTo>
                    <a:pt x="1186156" y="41796"/>
                    <a:pt x="1195322" y="63924"/>
                    <a:pt x="1195322" y="86998"/>
                  </a:cubicBezTo>
                  <a:lnTo>
                    <a:pt x="1195322" y="626632"/>
                  </a:lnTo>
                  <a:cubicBezTo>
                    <a:pt x="1195322" y="649705"/>
                    <a:pt x="1186156" y="671833"/>
                    <a:pt x="1169841" y="688148"/>
                  </a:cubicBezTo>
                  <a:cubicBezTo>
                    <a:pt x="1153526" y="704464"/>
                    <a:pt x="1131398" y="713629"/>
                    <a:pt x="1108324" y="713629"/>
                  </a:cubicBezTo>
                  <a:lnTo>
                    <a:pt x="86998" y="713629"/>
                  </a:lnTo>
                  <a:cubicBezTo>
                    <a:pt x="63924" y="713629"/>
                    <a:pt x="41796" y="704464"/>
                    <a:pt x="25481" y="688148"/>
                  </a:cubicBezTo>
                  <a:cubicBezTo>
                    <a:pt x="9166" y="671833"/>
                    <a:pt x="0" y="649705"/>
                    <a:pt x="0" y="626632"/>
                  </a:cubicBezTo>
                  <a:lnTo>
                    <a:pt x="0" y="86998"/>
                  </a:lnTo>
                  <a:cubicBezTo>
                    <a:pt x="0" y="63924"/>
                    <a:pt x="9166" y="41796"/>
                    <a:pt x="25481" y="25481"/>
                  </a:cubicBezTo>
                  <a:cubicBezTo>
                    <a:pt x="41796" y="9166"/>
                    <a:pt x="63924" y="0"/>
                    <a:pt x="869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1195322" cy="666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58775" y="3752850"/>
            <a:ext cx="4200525" cy="2709562"/>
            <a:chOff x="0" y="0"/>
            <a:chExt cx="1106311" cy="7136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06311" cy="713629"/>
            </a:xfrm>
            <a:custGeom>
              <a:avLst/>
              <a:gdLst/>
              <a:ahLst/>
              <a:cxnLst/>
              <a:rect l="l" t="t" r="r" b="b"/>
              <a:pathLst>
                <a:path w="1106311" h="713629">
                  <a:moveTo>
                    <a:pt x="93997" y="0"/>
                  </a:moveTo>
                  <a:lnTo>
                    <a:pt x="1012314" y="0"/>
                  </a:lnTo>
                  <a:cubicBezTo>
                    <a:pt x="1037243" y="0"/>
                    <a:pt x="1061152" y="9903"/>
                    <a:pt x="1078780" y="27531"/>
                  </a:cubicBezTo>
                  <a:cubicBezTo>
                    <a:pt x="1096408" y="45159"/>
                    <a:pt x="1106311" y="69068"/>
                    <a:pt x="1106311" y="93997"/>
                  </a:cubicBezTo>
                  <a:lnTo>
                    <a:pt x="1106311" y="619632"/>
                  </a:lnTo>
                  <a:cubicBezTo>
                    <a:pt x="1106311" y="644562"/>
                    <a:pt x="1096408" y="668470"/>
                    <a:pt x="1078780" y="686098"/>
                  </a:cubicBezTo>
                  <a:cubicBezTo>
                    <a:pt x="1061152" y="703726"/>
                    <a:pt x="1037243" y="713629"/>
                    <a:pt x="1012314" y="713629"/>
                  </a:cubicBezTo>
                  <a:lnTo>
                    <a:pt x="93997" y="713629"/>
                  </a:lnTo>
                  <a:cubicBezTo>
                    <a:pt x="69068" y="713629"/>
                    <a:pt x="45159" y="703726"/>
                    <a:pt x="27531" y="686098"/>
                  </a:cubicBezTo>
                  <a:cubicBezTo>
                    <a:pt x="9903" y="668470"/>
                    <a:pt x="0" y="644562"/>
                    <a:pt x="0" y="619632"/>
                  </a:cubicBezTo>
                  <a:lnTo>
                    <a:pt x="0" y="93997"/>
                  </a:lnTo>
                  <a:cubicBezTo>
                    <a:pt x="0" y="69068"/>
                    <a:pt x="9903" y="45159"/>
                    <a:pt x="27531" y="27531"/>
                  </a:cubicBezTo>
                  <a:cubicBezTo>
                    <a:pt x="45159" y="9903"/>
                    <a:pt x="69068" y="0"/>
                    <a:pt x="9399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1106311" cy="666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44424" y="3752850"/>
            <a:ext cx="4508578" cy="2709562"/>
            <a:chOff x="0" y="0"/>
            <a:chExt cx="1187445" cy="7136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87445" cy="713629"/>
            </a:xfrm>
            <a:custGeom>
              <a:avLst/>
              <a:gdLst/>
              <a:ahLst/>
              <a:cxnLst/>
              <a:rect l="l" t="t" r="r" b="b"/>
              <a:pathLst>
                <a:path w="1187445" h="713629">
                  <a:moveTo>
                    <a:pt x="87575" y="0"/>
                  </a:moveTo>
                  <a:lnTo>
                    <a:pt x="1099870" y="0"/>
                  </a:lnTo>
                  <a:cubicBezTo>
                    <a:pt x="1148236" y="0"/>
                    <a:pt x="1187445" y="39209"/>
                    <a:pt x="1187445" y="87575"/>
                  </a:cubicBezTo>
                  <a:lnTo>
                    <a:pt x="1187445" y="626055"/>
                  </a:lnTo>
                  <a:cubicBezTo>
                    <a:pt x="1187445" y="674421"/>
                    <a:pt x="1148236" y="713629"/>
                    <a:pt x="1099870" y="713629"/>
                  </a:cubicBezTo>
                  <a:lnTo>
                    <a:pt x="87575" y="713629"/>
                  </a:lnTo>
                  <a:cubicBezTo>
                    <a:pt x="39209" y="713629"/>
                    <a:pt x="0" y="674421"/>
                    <a:pt x="0" y="626055"/>
                  </a:cubicBezTo>
                  <a:lnTo>
                    <a:pt x="0" y="87575"/>
                  </a:lnTo>
                  <a:cubicBezTo>
                    <a:pt x="0" y="39209"/>
                    <a:pt x="39209" y="0"/>
                    <a:pt x="875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47625"/>
              <a:ext cx="1187445" cy="666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99112" y="6738637"/>
            <a:ext cx="5204492" cy="3210167"/>
            <a:chOff x="0" y="0"/>
            <a:chExt cx="1370730" cy="845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70730" cy="845476"/>
            </a:xfrm>
            <a:custGeom>
              <a:avLst/>
              <a:gdLst/>
              <a:ahLst/>
              <a:cxnLst/>
              <a:rect l="l" t="t" r="r" b="b"/>
              <a:pathLst>
                <a:path w="1370730" h="845476">
                  <a:moveTo>
                    <a:pt x="75865" y="0"/>
                  </a:moveTo>
                  <a:lnTo>
                    <a:pt x="1294866" y="0"/>
                  </a:lnTo>
                  <a:cubicBezTo>
                    <a:pt x="1336765" y="0"/>
                    <a:pt x="1370730" y="33966"/>
                    <a:pt x="1370730" y="75865"/>
                  </a:cubicBezTo>
                  <a:lnTo>
                    <a:pt x="1370730" y="769611"/>
                  </a:lnTo>
                  <a:cubicBezTo>
                    <a:pt x="1370730" y="811510"/>
                    <a:pt x="1336765" y="845476"/>
                    <a:pt x="1294866" y="845476"/>
                  </a:cubicBezTo>
                  <a:lnTo>
                    <a:pt x="75865" y="845476"/>
                  </a:lnTo>
                  <a:cubicBezTo>
                    <a:pt x="55744" y="845476"/>
                    <a:pt x="36448" y="837483"/>
                    <a:pt x="22220" y="823256"/>
                  </a:cubicBezTo>
                  <a:cubicBezTo>
                    <a:pt x="7993" y="809028"/>
                    <a:pt x="0" y="789732"/>
                    <a:pt x="0" y="769611"/>
                  </a:cubicBezTo>
                  <a:lnTo>
                    <a:pt x="0" y="75865"/>
                  </a:lnTo>
                  <a:cubicBezTo>
                    <a:pt x="0" y="33966"/>
                    <a:pt x="33966" y="0"/>
                    <a:pt x="75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47625"/>
              <a:ext cx="1370730" cy="797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7157" y="778360"/>
            <a:ext cx="12343641" cy="21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 b="1" spc="112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Security Configuration &amp; HTTP Analysis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63845" y="4208790"/>
            <a:ext cx="3812619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🌐 HTTP Reconnaissance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03351" y="4848800"/>
            <a:ext cx="3133606" cy="139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HTTP Status Code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Server Information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X-Powered-By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Content-Type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HTTP Headers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28978" y="4208790"/>
            <a:ext cx="3084433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🛡️ Security Headers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45660" y="4208790"/>
            <a:ext cx="4200525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 Cookie Security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91939" y="4908083"/>
            <a:ext cx="4200525" cy="84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"/>
                <a:ea typeface="Gotham"/>
                <a:cs typeface="Gotham"/>
                <a:sym typeface="Gotham"/>
              </a:rPr>
              <a:t>Secure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"/>
                <a:ea typeface="Gotham"/>
                <a:cs typeface="Gotham"/>
                <a:sym typeface="Gotham"/>
              </a:rPr>
              <a:t>HttpOnly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"/>
                <a:ea typeface="Gotham"/>
                <a:cs typeface="Gotham"/>
                <a:sym typeface="Gotham"/>
              </a:rPr>
              <a:t>SameSite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4421" y="7000208"/>
            <a:ext cx="4751546" cy="276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HTTP Response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    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Headers + Cookies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    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Security Analysis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    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Missing / Weak Configuration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      ↓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Finding + Severity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00950" y="4829185"/>
            <a:ext cx="4538489" cy="112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Content-Security-Policy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X-Frame-Options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X-Content-Type-Options</a:t>
            </a:r>
          </a:p>
          <a:p>
            <a:pPr marL="474984" lvl="1" indent="-237492" algn="l">
              <a:lnSpc>
                <a:spcPts val="2200"/>
              </a:lnSpc>
              <a:buFont typeface="Arial"/>
              <a:buChar char="•"/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Strict-Transport-Security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364432">
            <a:off x="14791723" y="6597641"/>
            <a:ext cx="5095729" cy="50957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393597" y="1922507"/>
            <a:ext cx="4715051" cy="5826807"/>
            <a:chOff x="0" y="0"/>
            <a:chExt cx="1460623" cy="18050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0627" cy="1805022"/>
            </a:xfrm>
            <a:custGeom>
              <a:avLst/>
              <a:gdLst/>
              <a:ahLst/>
              <a:cxnLst/>
              <a:rect l="l" t="t" r="r" b="b"/>
              <a:pathLst>
                <a:path w="1460627" h="1805022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2"/>
              <a:stretch>
                <a:fillRect l="-146499" r="-39230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3296394" y="5950782"/>
            <a:ext cx="3931629" cy="39316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3333" r="-33333"/>
              </a:stretch>
            </a:blipFill>
            <a:ln w="228600" cap="sq">
              <a:gradFill>
                <a:gsLst>
                  <a:gs pos="0">
                    <a:srgbClr val="4ADEDD">
                      <a:alpha val="100000"/>
                    </a:srgbClr>
                  </a:gs>
                  <a:gs pos="100000">
                    <a:srgbClr val="0064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 rot="4609861">
            <a:off x="-1525310" y="-1366654"/>
            <a:ext cx="5914219" cy="59142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1591682" y="2262361"/>
            <a:ext cx="4673381" cy="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574839" y="9700164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0" y="0"/>
                </a:moveTo>
                <a:lnTo>
                  <a:pt x="3940182" y="0"/>
                </a:lnTo>
                <a:lnTo>
                  <a:pt x="3940182" y="1035746"/>
                </a:lnTo>
                <a:lnTo>
                  <a:pt x="0" y="1035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056323" y="406684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8"/>
                </a:lnTo>
                <a:lnTo>
                  <a:pt x="0" y="638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266025" y="-845529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39"/>
                </a:lnTo>
                <a:lnTo>
                  <a:pt x="0" y="1746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08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0745" y="5624449"/>
            <a:ext cx="3632748" cy="2714101"/>
            <a:chOff x="0" y="0"/>
            <a:chExt cx="956773" cy="7148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6773" cy="714825"/>
            </a:xfrm>
            <a:custGeom>
              <a:avLst/>
              <a:gdLst/>
              <a:ahLst/>
              <a:cxnLst/>
              <a:rect l="l" t="t" r="r" b="b"/>
              <a:pathLst>
                <a:path w="956773" h="714825">
                  <a:moveTo>
                    <a:pt x="108688" y="0"/>
                  </a:moveTo>
                  <a:lnTo>
                    <a:pt x="848085" y="0"/>
                  </a:lnTo>
                  <a:cubicBezTo>
                    <a:pt x="876911" y="0"/>
                    <a:pt x="904556" y="11451"/>
                    <a:pt x="924939" y="31834"/>
                  </a:cubicBezTo>
                  <a:cubicBezTo>
                    <a:pt x="945322" y="52217"/>
                    <a:pt x="956773" y="79863"/>
                    <a:pt x="956773" y="108688"/>
                  </a:cubicBezTo>
                  <a:lnTo>
                    <a:pt x="956773" y="606136"/>
                  </a:lnTo>
                  <a:cubicBezTo>
                    <a:pt x="956773" y="666163"/>
                    <a:pt x="908112" y="714825"/>
                    <a:pt x="848085" y="714825"/>
                  </a:cubicBezTo>
                  <a:lnTo>
                    <a:pt x="108688" y="714825"/>
                  </a:lnTo>
                  <a:cubicBezTo>
                    <a:pt x="48661" y="714825"/>
                    <a:pt x="0" y="666163"/>
                    <a:pt x="0" y="606136"/>
                  </a:cubicBezTo>
                  <a:lnTo>
                    <a:pt x="0" y="108688"/>
                  </a:lnTo>
                  <a:cubicBezTo>
                    <a:pt x="0" y="48661"/>
                    <a:pt x="48661" y="0"/>
                    <a:pt x="1086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956773" cy="66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5624449"/>
            <a:ext cx="3956144" cy="2860532"/>
            <a:chOff x="0" y="0"/>
            <a:chExt cx="1041947" cy="7533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1947" cy="753391"/>
            </a:xfrm>
            <a:custGeom>
              <a:avLst/>
              <a:gdLst/>
              <a:ahLst/>
              <a:cxnLst/>
              <a:rect l="l" t="t" r="r" b="b"/>
              <a:pathLst>
                <a:path w="1041947" h="753391">
                  <a:moveTo>
                    <a:pt x="99804" y="0"/>
                  </a:moveTo>
                  <a:lnTo>
                    <a:pt x="942144" y="0"/>
                  </a:lnTo>
                  <a:cubicBezTo>
                    <a:pt x="968613" y="0"/>
                    <a:pt x="993999" y="10515"/>
                    <a:pt x="1012716" y="29232"/>
                  </a:cubicBezTo>
                  <a:cubicBezTo>
                    <a:pt x="1031432" y="47949"/>
                    <a:pt x="1041947" y="73334"/>
                    <a:pt x="1041947" y="99804"/>
                  </a:cubicBezTo>
                  <a:lnTo>
                    <a:pt x="1041947" y="653587"/>
                  </a:lnTo>
                  <a:cubicBezTo>
                    <a:pt x="1041947" y="708708"/>
                    <a:pt x="997264" y="753391"/>
                    <a:pt x="942144" y="753391"/>
                  </a:cubicBezTo>
                  <a:lnTo>
                    <a:pt x="99804" y="753391"/>
                  </a:lnTo>
                  <a:cubicBezTo>
                    <a:pt x="73334" y="753391"/>
                    <a:pt x="47949" y="742876"/>
                    <a:pt x="29232" y="724159"/>
                  </a:cubicBezTo>
                  <a:cubicBezTo>
                    <a:pt x="10515" y="705443"/>
                    <a:pt x="0" y="680057"/>
                    <a:pt x="0" y="653587"/>
                  </a:cubicBezTo>
                  <a:lnTo>
                    <a:pt x="0" y="99804"/>
                  </a:lnTo>
                  <a:cubicBezTo>
                    <a:pt x="0" y="73334"/>
                    <a:pt x="10515" y="47949"/>
                    <a:pt x="29232" y="29232"/>
                  </a:cubicBezTo>
                  <a:cubicBezTo>
                    <a:pt x="47949" y="10515"/>
                    <a:pt x="73334" y="0"/>
                    <a:pt x="998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47625"/>
              <a:ext cx="1041947" cy="705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87395" y="2681461"/>
            <a:ext cx="3892712" cy="2624359"/>
            <a:chOff x="0" y="0"/>
            <a:chExt cx="1025241" cy="69118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5241" cy="691189"/>
            </a:xfrm>
            <a:custGeom>
              <a:avLst/>
              <a:gdLst/>
              <a:ahLst/>
              <a:cxnLst/>
              <a:rect l="l" t="t" r="r" b="b"/>
              <a:pathLst>
                <a:path w="1025241" h="691189">
                  <a:moveTo>
                    <a:pt x="101430" y="0"/>
                  </a:moveTo>
                  <a:lnTo>
                    <a:pt x="923811" y="0"/>
                  </a:lnTo>
                  <a:cubicBezTo>
                    <a:pt x="979829" y="0"/>
                    <a:pt x="1025241" y="45412"/>
                    <a:pt x="1025241" y="101430"/>
                  </a:cubicBezTo>
                  <a:lnTo>
                    <a:pt x="1025241" y="589759"/>
                  </a:lnTo>
                  <a:cubicBezTo>
                    <a:pt x="1025241" y="645777"/>
                    <a:pt x="979829" y="691189"/>
                    <a:pt x="923811" y="691189"/>
                  </a:cubicBezTo>
                  <a:lnTo>
                    <a:pt x="101430" y="691189"/>
                  </a:lnTo>
                  <a:cubicBezTo>
                    <a:pt x="45412" y="691189"/>
                    <a:pt x="0" y="645777"/>
                    <a:pt x="0" y="589759"/>
                  </a:cubicBezTo>
                  <a:lnTo>
                    <a:pt x="0" y="101430"/>
                  </a:lnTo>
                  <a:cubicBezTo>
                    <a:pt x="0" y="45412"/>
                    <a:pt x="45412" y="0"/>
                    <a:pt x="101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47625"/>
              <a:ext cx="1025241" cy="643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91906" y="2681461"/>
            <a:ext cx="3724039" cy="2624359"/>
            <a:chOff x="0" y="0"/>
            <a:chExt cx="980817" cy="69118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80817" cy="691189"/>
            </a:xfrm>
            <a:custGeom>
              <a:avLst/>
              <a:gdLst/>
              <a:ahLst/>
              <a:cxnLst/>
              <a:rect l="l" t="t" r="r" b="b"/>
              <a:pathLst>
                <a:path w="980817" h="691189">
                  <a:moveTo>
                    <a:pt x="106024" y="0"/>
                  </a:moveTo>
                  <a:lnTo>
                    <a:pt x="874793" y="0"/>
                  </a:lnTo>
                  <a:cubicBezTo>
                    <a:pt x="933348" y="0"/>
                    <a:pt x="980817" y="47469"/>
                    <a:pt x="980817" y="106024"/>
                  </a:cubicBezTo>
                  <a:lnTo>
                    <a:pt x="980817" y="585165"/>
                  </a:lnTo>
                  <a:cubicBezTo>
                    <a:pt x="980817" y="643721"/>
                    <a:pt x="933348" y="691189"/>
                    <a:pt x="874793" y="691189"/>
                  </a:cubicBezTo>
                  <a:lnTo>
                    <a:pt x="106024" y="691189"/>
                  </a:lnTo>
                  <a:cubicBezTo>
                    <a:pt x="47469" y="691189"/>
                    <a:pt x="0" y="643721"/>
                    <a:pt x="0" y="585165"/>
                  </a:cubicBezTo>
                  <a:lnTo>
                    <a:pt x="0" y="106024"/>
                  </a:lnTo>
                  <a:cubicBezTo>
                    <a:pt x="0" y="47469"/>
                    <a:pt x="47469" y="0"/>
                    <a:pt x="10602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47625"/>
              <a:ext cx="980817" cy="643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35884" y="2681461"/>
            <a:ext cx="3984573" cy="2624359"/>
            <a:chOff x="0" y="0"/>
            <a:chExt cx="1049435" cy="6911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49435" cy="691189"/>
            </a:xfrm>
            <a:custGeom>
              <a:avLst/>
              <a:gdLst/>
              <a:ahLst/>
              <a:cxnLst/>
              <a:rect l="l" t="t" r="r" b="b"/>
              <a:pathLst>
                <a:path w="1049435" h="691189">
                  <a:moveTo>
                    <a:pt x="99092" y="0"/>
                  </a:moveTo>
                  <a:lnTo>
                    <a:pt x="950343" y="0"/>
                  </a:lnTo>
                  <a:cubicBezTo>
                    <a:pt x="1005070" y="0"/>
                    <a:pt x="1049435" y="44365"/>
                    <a:pt x="1049435" y="99092"/>
                  </a:cubicBezTo>
                  <a:lnTo>
                    <a:pt x="1049435" y="592097"/>
                  </a:lnTo>
                  <a:cubicBezTo>
                    <a:pt x="1049435" y="618378"/>
                    <a:pt x="1038995" y="643583"/>
                    <a:pt x="1020412" y="662166"/>
                  </a:cubicBezTo>
                  <a:cubicBezTo>
                    <a:pt x="1001828" y="680749"/>
                    <a:pt x="976624" y="691189"/>
                    <a:pt x="950343" y="691189"/>
                  </a:cubicBezTo>
                  <a:lnTo>
                    <a:pt x="99092" y="691189"/>
                  </a:lnTo>
                  <a:cubicBezTo>
                    <a:pt x="72811" y="691189"/>
                    <a:pt x="47607" y="680749"/>
                    <a:pt x="29023" y="662166"/>
                  </a:cubicBezTo>
                  <a:cubicBezTo>
                    <a:pt x="10440" y="643583"/>
                    <a:pt x="0" y="618378"/>
                    <a:pt x="0" y="592097"/>
                  </a:cubicBezTo>
                  <a:lnTo>
                    <a:pt x="0" y="99092"/>
                  </a:lnTo>
                  <a:cubicBezTo>
                    <a:pt x="0" y="72811"/>
                    <a:pt x="10440" y="47607"/>
                    <a:pt x="29023" y="29023"/>
                  </a:cubicBezTo>
                  <a:cubicBezTo>
                    <a:pt x="47607" y="10440"/>
                    <a:pt x="72811" y="0"/>
                    <a:pt x="990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0" y="47625"/>
              <a:ext cx="1049435" cy="643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591682" y="1411461"/>
            <a:ext cx="678632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sz="6500" b="1" spc="130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Scan Workflow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1800" y="3053904"/>
            <a:ext cx="330840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1. Target Validation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91682" y="3519026"/>
            <a:ext cx="3599511" cy="144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The user provides an IP address or domain, and VulCheck validates the target before starting the assessment.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58581" y="3087559"/>
            <a:ext cx="308610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2. Reconnaissance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40973" y="3569191"/>
            <a:ext cx="3003709" cy="139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Nmap is used to 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discover open ports, 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running services, 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and available service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information.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20745" y="3050412"/>
            <a:ext cx="308610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3. Web Analysis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0918" y="5624449"/>
            <a:ext cx="3856477" cy="2860532"/>
            <a:chOff x="0" y="0"/>
            <a:chExt cx="1015698" cy="75339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5698" cy="753391"/>
            </a:xfrm>
            <a:custGeom>
              <a:avLst/>
              <a:gdLst/>
              <a:ahLst/>
              <a:cxnLst/>
              <a:rect l="l" t="t" r="r" b="b"/>
              <a:pathLst>
                <a:path w="1015698" h="753391">
                  <a:moveTo>
                    <a:pt x="102383" y="0"/>
                  </a:moveTo>
                  <a:lnTo>
                    <a:pt x="913315" y="0"/>
                  </a:lnTo>
                  <a:cubicBezTo>
                    <a:pt x="940468" y="0"/>
                    <a:pt x="966510" y="10787"/>
                    <a:pt x="985710" y="29987"/>
                  </a:cubicBezTo>
                  <a:cubicBezTo>
                    <a:pt x="1004911" y="49188"/>
                    <a:pt x="1015698" y="75229"/>
                    <a:pt x="1015698" y="102383"/>
                  </a:cubicBezTo>
                  <a:lnTo>
                    <a:pt x="1015698" y="651008"/>
                  </a:lnTo>
                  <a:cubicBezTo>
                    <a:pt x="1015698" y="707553"/>
                    <a:pt x="969859" y="753391"/>
                    <a:pt x="913315" y="753391"/>
                  </a:cubicBezTo>
                  <a:lnTo>
                    <a:pt x="102383" y="753391"/>
                  </a:lnTo>
                  <a:cubicBezTo>
                    <a:pt x="75229" y="753391"/>
                    <a:pt x="49188" y="742604"/>
                    <a:pt x="29987" y="723404"/>
                  </a:cubicBezTo>
                  <a:cubicBezTo>
                    <a:pt x="10787" y="704203"/>
                    <a:pt x="0" y="678162"/>
                    <a:pt x="0" y="651008"/>
                  </a:cubicBezTo>
                  <a:lnTo>
                    <a:pt x="0" y="102383"/>
                  </a:lnTo>
                  <a:cubicBezTo>
                    <a:pt x="0" y="45838"/>
                    <a:pt x="45838" y="0"/>
                    <a:pt x="1023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2" name="TextBox 42"/>
            <p:cNvSpPr txBox="1"/>
            <p:nvPr/>
          </p:nvSpPr>
          <p:spPr>
            <a:xfrm>
              <a:off x="0" y="47625"/>
              <a:ext cx="1015698" cy="705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455216" y="3455859"/>
            <a:ext cx="3701976" cy="173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Detected web services are analyzed through HTTP reconnaissance and endpoint crawling to understand the application's structure.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37597" y="5846007"/>
            <a:ext cx="304606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4. Security Checks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37597" y="6354643"/>
            <a:ext cx="3740587" cy="1951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The collected information 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is passed to security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modules 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that test for selected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vulnerabilities and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security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44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misconfigurations.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30918" y="5988882"/>
            <a:ext cx="3632748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5. Findings Analysis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464268" y="6354643"/>
            <a:ext cx="3856477" cy="144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The scanner organizes detected issues and evaluates their 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potential security 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impact and severity.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60742" y="5988882"/>
            <a:ext cx="164546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6. Results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43711" y="6354643"/>
            <a:ext cx="3849886" cy="173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All scan information 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and findings are collected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into structured results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that can be used for 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further analysis and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.reporting.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364432">
            <a:off x="15153201" y="6270665"/>
            <a:ext cx="5095729" cy="50957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4558414">
            <a:off x="8049091" y="-6841253"/>
            <a:ext cx="11579036" cy="1157903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475727" y="2370476"/>
            <a:ext cx="9882362" cy="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75727" y="1284624"/>
            <a:ext cx="9836884" cy="1066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 b="1" spc="112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Findings &amp; Severity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5268869" y="466831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3940182" y="0"/>
                </a:moveTo>
                <a:lnTo>
                  <a:pt x="0" y="0"/>
                </a:lnTo>
                <a:lnTo>
                  <a:pt x="0" y="1035746"/>
                </a:lnTo>
                <a:lnTo>
                  <a:pt x="3940182" y="1035746"/>
                </a:lnTo>
                <a:lnTo>
                  <a:pt x="39401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0322" y="9423214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7"/>
                </a:lnTo>
                <a:lnTo>
                  <a:pt x="0" y="638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6502815" y="9517827"/>
            <a:ext cx="1321055" cy="1538347"/>
          </a:xfrm>
          <a:custGeom>
            <a:avLst/>
            <a:gdLst/>
            <a:ahLst/>
            <a:cxnLst/>
            <a:rect l="l" t="t" r="r" b="b"/>
            <a:pathLst>
              <a:path w="1321055" h="1538347">
                <a:moveTo>
                  <a:pt x="0" y="0"/>
                </a:moveTo>
                <a:lnTo>
                  <a:pt x="1321055" y="0"/>
                </a:lnTo>
                <a:lnTo>
                  <a:pt x="1321055" y="1538346"/>
                </a:lnTo>
                <a:lnTo>
                  <a:pt x="0" y="1538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3167140" y="-117521"/>
            <a:ext cx="901365" cy="1049624"/>
          </a:xfrm>
          <a:custGeom>
            <a:avLst/>
            <a:gdLst/>
            <a:ahLst/>
            <a:cxnLst/>
            <a:rect l="l" t="t" r="r" b="b"/>
            <a:pathLst>
              <a:path w="901365" h="1049624">
                <a:moveTo>
                  <a:pt x="0" y="0"/>
                </a:moveTo>
                <a:lnTo>
                  <a:pt x="901365" y="0"/>
                </a:lnTo>
                <a:lnTo>
                  <a:pt x="901365" y="1049625"/>
                </a:lnTo>
                <a:lnTo>
                  <a:pt x="0" y="104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34933" y="2977079"/>
            <a:ext cx="5725034" cy="3133801"/>
            <a:chOff x="0" y="0"/>
            <a:chExt cx="1507828" cy="8253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7828" cy="825363"/>
            </a:xfrm>
            <a:custGeom>
              <a:avLst/>
              <a:gdLst/>
              <a:ahLst/>
              <a:cxnLst/>
              <a:rect l="l" t="t" r="r" b="b"/>
              <a:pathLst>
                <a:path w="1507828" h="825363">
                  <a:moveTo>
                    <a:pt x="135229" y="0"/>
                  </a:moveTo>
                  <a:lnTo>
                    <a:pt x="1372599" y="0"/>
                  </a:lnTo>
                  <a:cubicBezTo>
                    <a:pt x="1408464" y="0"/>
                    <a:pt x="1442860" y="14247"/>
                    <a:pt x="1468220" y="39608"/>
                  </a:cubicBezTo>
                  <a:cubicBezTo>
                    <a:pt x="1493581" y="64968"/>
                    <a:pt x="1507828" y="99364"/>
                    <a:pt x="1507828" y="135229"/>
                  </a:cubicBezTo>
                  <a:lnTo>
                    <a:pt x="1507828" y="690134"/>
                  </a:lnTo>
                  <a:cubicBezTo>
                    <a:pt x="1507828" y="725999"/>
                    <a:pt x="1493581" y="760395"/>
                    <a:pt x="1468220" y="785756"/>
                  </a:cubicBezTo>
                  <a:cubicBezTo>
                    <a:pt x="1442860" y="811116"/>
                    <a:pt x="1408464" y="825363"/>
                    <a:pt x="1372599" y="825363"/>
                  </a:cubicBezTo>
                  <a:lnTo>
                    <a:pt x="135229" y="825363"/>
                  </a:lnTo>
                  <a:cubicBezTo>
                    <a:pt x="99364" y="825363"/>
                    <a:pt x="64968" y="811116"/>
                    <a:pt x="39608" y="785756"/>
                  </a:cubicBezTo>
                  <a:cubicBezTo>
                    <a:pt x="14247" y="760395"/>
                    <a:pt x="0" y="725999"/>
                    <a:pt x="0" y="690134"/>
                  </a:cubicBezTo>
                  <a:lnTo>
                    <a:pt x="0" y="135229"/>
                  </a:lnTo>
                  <a:cubicBezTo>
                    <a:pt x="0" y="99364"/>
                    <a:pt x="14247" y="64968"/>
                    <a:pt x="39608" y="39608"/>
                  </a:cubicBezTo>
                  <a:cubicBezTo>
                    <a:pt x="64968" y="14247"/>
                    <a:pt x="99364" y="0"/>
                    <a:pt x="1352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07828" cy="863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68407" y="3039034"/>
            <a:ext cx="5590459" cy="3133801"/>
            <a:chOff x="0" y="0"/>
            <a:chExt cx="1472384" cy="8253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72384" cy="825363"/>
            </a:xfrm>
            <a:custGeom>
              <a:avLst/>
              <a:gdLst/>
              <a:ahLst/>
              <a:cxnLst/>
              <a:rect l="l" t="t" r="r" b="b"/>
              <a:pathLst>
                <a:path w="1472384" h="825363">
                  <a:moveTo>
                    <a:pt x="138485" y="0"/>
                  </a:moveTo>
                  <a:lnTo>
                    <a:pt x="1333900" y="0"/>
                  </a:lnTo>
                  <a:cubicBezTo>
                    <a:pt x="1410383" y="0"/>
                    <a:pt x="1472384" y="62002"/>
                    <a:pt x="1472384" y="138485"/>
                  </a:cubicBezTo>
                  <a:lnTo>
                    <a:pt x="1472384" y="686879"/>
                  </a:lnTo>
                  <a:cubicBezTo>
                    <a:pt x="1472384" y="763362"/>
                    <a:pt x="1410383" y="825363"/>
                    <a:pt x="1333900" y="825363"/>
                  </a:cubicBezTo>
                  <a:lnTo>
                    <a:pt x="138485" y="825363"/>
                  </a:lnTo>
                  <a:cubicBezTo>
                    <a:pt x="62002" y="825363"/>
                    <a:pt x="0" y="763362"/>
                    <a:pt x="0" y="686879"/>
                  </a:cubicBezTo>
                  <a:lnTo>
                    <a:pt x="0" y="138485"/>
                  </a:lnTo>
                  <a:cubicBezTo>
                    <a:pt x="0" y="62002"/>
                    <a:pt x="62002" y="0"/>
                    <a:pt x="13848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72384" cy="863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27076" y="6492262"/>
            <a:ext cx="5920689" cy="2949002"/>
            <a:chOff x="0" y="0"/>
            <a:chExt cx="1559359" cy="7766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9359" cy="776692"/>
            </a:xfrm>
            <a:custGeom>
              <a:avLst/>
              <a:gdLst/>
              <a:ahLst/>
              <a:cxnLst/>
              <a:rect l="l" t="t" r="r" b="b"/>
              <a:pathLst>
                <a:path w="1559359" h="776692">
                  <a:moveTo>
                    <a:pt x="130760" y="0"/>
                  </a:moveTo>
                  <a:lnTo>
                    <a:pt x="1428598" y="0"/>
                  </a:lnTo>
                  <a:cubicBezTo>
                    <a:pt x="1463278" y="0"/>
                    <a:pt x="1496537" y="13777"/>
                    <a:pt x="1521060" y="38299"/>
                  </a:cubicBezTo>
                  <a:cubicBezTo>
                    <a:pt x="1545582" y="62821"/>
                    <a:pt x="1559359" y="96081"/>
                    <a:pt x="1559359" y="130760"/>
                  </a:cubicBezTo>
                  <a:lnTo>
                    <a:pt x="1559359" y="645932"/>
                  </a:lnTo>
                  <a:cubicBezTo>
                    <a:pt x="1559359" y="680611"/>
                    <a:pt x="1545582" y="713871"/>
                    <a:pt x="1521060" y="738393"/>
                  </a:cubicBezTo>
                  <a:cubicBezTo>
                    <a:pt x="1496537" y="762915"/>
                    <a:pt x="1463278" y="776692"/>
                    <a:pt x="1428598" y="776692"/>
                  </a:cubicBezTo>
                  <a:lnTo>
                    <a:pt x="130760" y="776692"/>
                  </a:lnTo>
                  <a:cubicBezTo>
                    <a:pt x="96081" y="776692"/>
                    <a:pt x="62821" y="762915"/>
                    <a:pt x="38299" y="738393"/>
                  </a:cubicBezTo>
                  <a:cubicBezTo>
                    <a:pt x="13777" y="713871"/>
                    <a:pt x="0" y="680611"/>
                    <a:pt x="0" y="645932"/>
                  </a:cubicBezTo>
                  <a:lnTo>
                    <a:pt x="0" y="130760"/>
                  </a:lnTo>
                  <a:cubicBezTo>
                    <a:pt x="0" y="96081"/>
                    <a:pt x="13777" y="62821"/>
                    <a:pt x="38299" y="38299"/>
                  </a:cubicBezTo>
                  <a:cubicBezTo>
                    <a:pt x="62821" y="13777"/>
                    <a:pt x="96081" y="0"/>
                    <a:pt x="130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59359" cy="814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09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204818" y="3442334"/>
            <a:ext cx="27621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🔴 High Severity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2186" y="4049426"/>
            <a:ext cx="5258731" cy="202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Critical security issues that may allow significant unauthorized access or data exposure.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Examples: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SQL Injection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Severe authentication/security weaknesses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65864" y="3442334"/>
            <a:ext cx="5590459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🟠 Medium Severity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10959" y="3821201"/>
            <a:ext cx="5047907" cy="202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"/>
                <a:ea typeface="Gotham"/>
                <a:cs typeface="Gotham"/>
                <a:sym typeface="Gotham"/>
              </a:rPr>
              <a:t>Security weaknesses that could increase the application's attack surface or facilitate attacks.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Examples: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"/>
                <a:ea typeface="Gotham"/>
                <a:cs typeface="Gotham"/>
                <a:sym typeface="Gotham"/>
              </a:rPr>
              <a:t>Missing security headers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"/>
                <a:ea typeface="Gotham"/>
                <a:cs typeface="Gotham"/>
                <a:sym typeface="Gotham"/>
              </a:rPr>
              <a:t>Weak cookie configuration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"/>
                <a:ea typeface="Gotham"/>
                <a:cs typeface="Gotham"/>
                <a:sym typeface="Gotham"/>
              </a:rPr>
              <a:t>Potential XSS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94169" y="6858635"/>
            <a:ext cx="255436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🟢 Low Severity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01334" y="7521391"/>
            <a:ext cx="5336993" cy="173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Informational or lower-impact issues that should still be reviewed.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Examples: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Information disclosure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Technology/version exposure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Minor configuration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364432">
            <a:off x="15153201" y="6270665"/>
            <a:ext cx="5095729" cy="50957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4558414">
            <a:off x="8049091" y="-6841253"/>
            <a:ext cx="11579036" cy="1157903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475727" y="2351426"/>
            <a:ext cx="5590699" cy="19050"/>
          </a:xfrm>
          <a:prstGeom prst="line">
            <a:avLst/>
          </a:prstGeom>
          <a:ln w="38100" cap="flat">
            <a:gradFill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75727" y="1284624"/>
            <a:ext cx="9585858" cy="1066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 b="1" spc="112">
                <a:solidFill>
                  <a:srgbClr val="4ADEDD"/>
                </a:solidFill>
                <a:latin typeface="Pattanakarn Medium"/>
                <a:ea typeface="Pattanakarn Medium"/>
                <a:cs typeface="Pattanakarn Medium"/>
                <a:sym typeface="Pattanakarn Medium"/>
              </a:rPr>
              <a:t> Live Demo 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5268869" y="466831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3940182" y="0"/>
                </a:moveTo>
                <a:lnTo>
                  <a:pt x="0" y="0"/>
                </a:lnTo>
                <a:lnTo>
                  <a:pt x="0" y="1035746"/>
                </a:lnTo>
                <a:lnTo>
                  <a:pt x="3940182" y="1035746"/>
                </a:lnTo>
                <a:lnTo>
                  <a:pt x="39401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0322" y="9423214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7"/>
                </a:lnTo>
                <a:lnTo>
                  <a:pt x="0" y="638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8363306">
            <a:off x="-463932" y="5705724"/>
            <a:ext cx="1321055" cy="1538347"/>
          </a:xfrm>
          <a:custGeom>
            <a:avLst/>
            <a:gdLst/>
            <a:ahLst/>
            <a:cxnLst/>
            <a:rect l="l" t="t" r="r" b="b"/>
            <a:pathLst>
              <a:path w="1321055" h="1538347">
                <a:moveTo>
                  <a:pt x="0" y="0"/>
                </a:moveTo>
                <a:lnTo>
                  <a:pt x="1321055" y="0"/>
                </a:lnTo>
                <a:lnTo>
                  <a:pt x="1321055" y="1538346"/>
                </a:lnTo>
                <a:lnTo>
                  <a:pt x="0" y="1538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3167140" y="-117521"/>
            <a:ext cx="901365" cy="1049624"/>
          </a:xfrm>
          <a:custGeom>
            <a:avLst/>
            <a:gdLst/>
            <a:ahLst/>
            <a:cxnLst/>
            <a:rect l="l" t="t" r="r" b="b"/>
            <a:pathLst>
              <a:path w="901365" h="1049624">
                <a:moveTo>
                  <a:pt x="0" y="0"/>
                </a:moveTo>
                <a:lnTo>
                  <a:pt x="901365" y="0"/>
                </a:lnTo>
                <a:lnTo>
                  <a:pt x="901365" y="1049625"/>
                </a:lnTo>
                <a:lnTo>
                  <a:pt x="0" y="104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846537" y="2638714"/>
            <a:ext cx="6274038" cy="5930627"/>
            <a:chOff x="0" y="0"/>
            <a:chExt cx="1652421" cy="15619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2421" cy="1561976"/>
            </a:xfrm>
            <a:custGeom>
              <a:avLst/>
              <a:gdLst/>
              <a:ahLst/>
              <a:cxnLst/>
              <a:rect l="l" t="t" r="r" b="b"/>
              <a:pathLst>
                <a:path w="1652421" h="1561976">
                  <a:moveTo>
                    <a:pt x="123396" y="0"/>
                  </a:moveTo>
                  <a:lnTo>
                    <a:pt x="1529025" y="0"/>
                  </a:lnTo>
                  <a:cubicBezTo>
                    <a:pt x="1561752" y="0"/>
                    <a:pt x="1593138" y="13001"/>
                    <a:pt x="1616280" y="36142"/>
                  </a:cubicBezTo>
                  <a:cubicBezTo>
                    <a:pt x="1639421" y="59283"/>
                    <a:pt x="1652421" y="90669"/>
                    <a:pt x="1652421" y="123396"/>
                  </a:cubicBezTo>
                  <a:lnTo>
                    <a:pt x="1652421" y="1438580"/>
                  </a:lnTo>
                  <a:cubicBezTo>
                    <a:pt x="1652421" y="1471306"/>
                    <a:pt x="1639421" y="1502693"/>
                    <a:pt x="1616280" y="1525834"/>
                  </a:cubicBezTo>
                  <a:cubicBezTo>
                    <a:pt x="1593138" y="1548975"/>
                    <a:pt x="1561752" y="1561976"/>
                    <a:pt x="1529025" y="1561976"/>
                  </a:cubicBezTo>
                  <a:lnTo>
                    <a:pt x="123396" y="1561976"/>
                  </a:lnTo>
                  <a:cubicBezTo>
                    <a:pt x="90669" y="1561976"/>
                    <a:pt x="59283" y="1548975"/>
                    <a:pt x="36142" y="1525834"/>
                  </a:cubicBezTo>
                  <a:cubicBezTo>
                    <a:pt x="13001" y="1502693"/>
                    <a:pt x="0" y="1471306"/>
                    <a:pt x="0" y="1438580"/>
                  </a:cubicBezTo>
                  <a:lnTo>
                    <a:pt x="0" y="123396"/>
                  </a:lnTo>
                  <a:cubicBezTo>
                    <a:pt x="0" y="90669"/>
                    <a:pt x="13001" y="59283"/>
                    <a:pt x="36142" y="36142"/>
                  </a:cubicBezTo>
                  <a:cubicBezTo>
                    <a:pt x="59283" y="13001"/>
                    <a:pt x="90669" y="0"/>
                    <a:pt x="1233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52421" cy="1600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10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2020749" y="2956195"/>
            <a:ext cx="571850" cy="571850"/>
          </a:xfrm>
          <a:custGeom>
            <a:avLst/>
            <a:gdLst/>
            <a:ahLst/>
            <a:cxnLst/>
            <a:rect l="l" t="t" r="r" b="b"/>
            <a:pathLst>
              <a:path w="571850" h="571850">
                <a:moveTo>
                  <a:pt x="0" y="0"/>
                </a:moveTo>
                <a:lnTo>
                  <a:pt x="571850" y="0"/>
                </a:lnTo>
                <a:lnTo>
                  <a:pt x="571850" y="571849"/>
                </a:lnTo>
                <a:lnTo>
                  <a:pt x="0" y="571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3891609" y="8818530"/>
            <a:ext cx="11599585" cy="1181735"/>
            <a:chOff x="0" y="0"/>
            <a:chExt cx="3055035" cy="3112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55035" cy="311239"/>
            </a:xfrm>
            <a:custGeom>
              <a:avLst/>
              <a:gdLst/>
              <a:ahLst/>
              <a:cxnLst/>
              <a:rect l="l" t="t" r="r" b="b"/>
              <a:pathLst>
                <a:path w="3055035" h="311239">
                  <a:moveTo>
                    <a:pt x="66743" y="0"/>
                  </a:moveTo>
                  <a:lnTo>
                    <a:pt x="2988292" y="0"/>
                  </a:lnTo>
                  <a:cubicBezTo>
                    <a:pt x="3025153" y="0"/>
                    <a:pt x="3055035" y="29882"/>
                    <a:pt x="3055035" y="66743"/>
                  </a:cubicBezTo>
                  <a:lnTo>
                    <a:pt x="3055035" y="244496"/>
                  </a:lnTo>
                  <a:cubicBezTo>
                    <a:pt x="3055035" y="281357"/>
                    <a:pt x="3025153" y="311239"/>
                    <a:pt x="2988292" y="311239"/>
                  </a:cubicBezTo>
                  <a:lnTo>
                    <a:pt x="66743" y="311239"/>
                  </a:lnTo>
                  <a:cubicBezTo>
                    <a:pt x="29882" y="311239"/>
                    <a:pt x="0" y="281357"/>
                    <a:pt x="0" y="244496"/>
                  </a:cubicBezTo>
                  <a:lnTo>
                    <a:pt x="0" y="66743"/>
                  </a:lnTo>
                  <a:cubicBezTo>
                    <a:pt x="0" y="29882"/>
                    <a:pt x="29882" y="0"/>
                    <a:pt x="667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055035" cy="349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8939725" y="2547214"/>
            <a:ext cx="8591271" cy="5827635"/>
          </a:xfrm>
          <a:custGeom>
            <a:avLst/>
            <a:gdLst/>
            <a:ahLst/>
            <a:cxnLst/>
            <a:rect l="l" t="t" r="r" b="b"/>
            <a:pathLst>
              <a:path w="8591271" h="5827635">
                <a:moveTo>
                  <a:pt x="0" y="0"/>
                </a:moveTo>
                <a:lnTo>
                  <a:pt x="8591271" y="0"/>
                </a:lnTo>
                <a:lnTo>
                  <a:pt x="8591271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0039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592599" y="3100832"/>
            <a:ext cx="3137019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4ADEDD"/>
                </a:solidFill>
                <a:latin typeface="Gotham Bold"/>
                <a:ea typeface="Gotham Bold"/>
                <a:cs typeface="Gotham Bold"/>
                <a:sym typeface="Gotham Bold"/>
              </a:rPr>
              <a:t>Target Assessment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06674" y="3469132"/>
            <a:ext cx="4453057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1.Reconnaissance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Open ports identified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Running services detected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Service banners collected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06674" y="4907605"/>
            <a:ext cx="4722852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2.Web Analysis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HTTP service detected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Server information collected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Web endpoints discovered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06674" y="6346078"/>
            <a:ext cx="5353764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3.Security Analysis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Vulnerability checks performed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Configuration issues analyzed</a:t>
            </a:r>
          </a:p>
          <a:p>
            <a:pPr marL="496574" lvl="1" indent="-248287" algn="l">
              <a:lnSpc>
                <a:spcPts val="2300"/>
              </a:lnSpc>
              <a:buFont typeface="Arial"/>
              <a:buChar char="•"/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Findings categorized by severity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78984" y="9268110"/>
            <a:ext cx="1142738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VulCheck transforms raw scan data into structured security findings.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833" r="-15276" b="-7729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-3950634" y="0"/>
            <a:ext cx="22334720" cy="10246925"/>
            <a:chOff x="0" y="0"/>
            <a:chExt cx="5882395" cy="26987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82395" cy="2698779"/>
            </a:xfrm>
            <a:custGeom>
              <a:avLst/>
              <a:gdLst/>
              <a:ahLst/>
              <a:cxnLst/>
              <a:rect l="l" t="t" r="r" b="b"/>
              <a:pathLst>
                <a:path w="5882395" h="2698779">
                  <a:moveTo>
                    <a:pt x="0" y="0"/>
                  </a:moveTo>
                  <a:lnTo>
                    <a:pt x="5882395" y="0"/>
                  </a:lnTo>
                  <a:lnTo>
                    <a:pt x="5882395" y="2698779"/>
                  </a:lnTo>
                  <a:lnTo>
                    <a:pt x="0" y="2698779"/>
                  </a:lnTo>
                  <a:close/>
                </a:path>
              </a:pathLst>
            </a:custGeom>
            <a:gradFill rotWithShape="1">
              <a:gsLst>
                <a:gs pos="0">
                  <a:srgbClr val="02051F">
                    <a:alpha val="100000"/>
                  </a:srgbClr>
                </a:gs>
                <a:gs pos="50000">
                  <a:srgbClr val="02051E">
                    <a:alpha val="96000"/>
                  </a:srgbClr>
                </a:gs>
                <a:gs pos="100000">
                  <a:srgbClr val="05699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882395" cy="2679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>
            <a:off x="12173701" y="7072178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7237266" y="0"/>
                </a:moveTo>
                <a:lnTo>
                  <a:pt x="0" y="0"/>
                </a:lnTo>
                <a:lnTo>
                  <a:pt x="0" y="5276624"/>
                </a:lnTo>
                <a:lnTo>
                  <a:pt x="7237266" y="5276624"/>
                </a:lnTo>
                <a:lnTo>
                  <a:pt x="7237266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92334" y="-1055187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5" y="0"/>
                </a:lnTo>
                <a:lnTo>
                  <a:pt x="7237265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3858632" y="-2598237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5" y="0"/>
                </a:lnTo>
                <a:lnTo>
                  <a:pt x="7237265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73298" y="9413730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40"/>
                </a:lnTo>
                <a:lnTo>
                  <a:pt x="0" y="1746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55180" y="-438013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0" y="0"/>
                </a:lnTo>
                <a:lnTo>
                  <a:pt x="1499840" y="1746540"/>
                </a:lnTo>
                <a:lnTo>
                  <a:pt x="0" y="1746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675971" y="2678387"/>
            <a:ext cx="4497730" cy="3086100"/>
            <a:chOff x="0" y="0"/>
            <a:chExt cx="1184587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84587" cy="812800"/>
            </a:xfrm>
            <a:custGeom>
              <a:avLst/>
              <a:gdLst/>
              <a:ahLst/>
              <a:cxnLst/>
              <a:rect l="l" t="t" r="r" b="b"/>
              <a:pathLst>
                <a:path w="1184587" h="812800">
                  <a:moveTo>
                    <a:pt x="87786" y="0"/>
                  </a:moveTo>
                  <a:lnTo>
                    <a:pt x="1096801" y="0"/>
                  </a:lnTo>
                  <a:cubicBezTo>
                    <a:pt x="1120084" y="0"/>
                    <a:pt x="1142412" y="9249"/>
                    <a:pt x="1158875" y="25712"/>
                  </a:cubicBezTo>
                  <a:cubicBezTo>
                    <a:pt x="1175338" y="42175"/>
                    <a:pt x="1184587" y="64504"/>
                    <a:pt x="1184587" y="87786"/>
                  </a:cubicBezTo>
                  <a:lnTo>
                    <a:pt x="1184587" y="725014"/>
                  </a:lnTo>
                  <a:cubicBezTo>
                    <a:pt x="1184587" y="773497"/>
                    <a:pt x="1145284" y="812800"/>
                    <a:pt x="1096801" y="812800"/>
                  </a:cubicBezTo>
                  <a:lnTo>
                    <a:pt x="87786" y="812800"/>
                  </a:lnTo>
                  <a:cubicBezTo>
                    <a:pt x="64504" y="812800"/>
                    <a:pt x="42175" y="803551"/>
                    <a:pt x="25712" y="787088"/>
                  </a:cubicBezTo>
                  <a:cubicBezTo>
                    <a:pt x="9249" y="770625"/>
                    <a:pt x="0" y="748296"/>
                    <a:pt x="0" y="725014"/>
                  </a:cubicBezTo>
                  <a:lnTo>
                    <a:pt x="0" y="87786"/>
                  </a:lnTo>
                  <a:cubicBezTo>
                    <a:pt x="0" y="64504"/>
                    <a:pt x="9249" y="42175"/>
                    <a:pt x="25712" y="25712"/>
                  </a:cubicBezTo>
                  <a:cubicBezTo>
                    <a:pt x="42175" y="9249"/>
                    <a:pt x="64504" y="0"/>
                    <a:pt x="877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1184587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064016" y="6624390"/>
            <a:ext cx="4195284" cy="3086100"/>
            <a:chOff x="0" y="0"/>
            <a:chExt cx="1104931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4931" cy="812800"/>
            </a:xfrm>
            <a:custGeom>
              <a:avLst/>
              <a:gdLst/>
              <a:ahLst/>
              <a:cxnLst/>
              <a:rect l="l" t="t" r="r" b="b"/>
              <a:pathLst>
                <a:path w="1104931" h="812800">
                  <a:moveTo>
                    <a:pt x="94115" y="0"/>
                  </a:moveTo>
                  <a:lnTo>
                    <a:pt x="1010816" y="0"/>
                  </a:lnTo>
                  <a:cubicBezTo>
                    <a:pt x="1035777" y="0"/>
                    <a:pt x="1059715" y="9916"/>
                    <a:pt x="1077365" y="27566"/>
                  </a:cubicBezTo>
                  <a:cubicBezTo>
                    <a:pt x="1095015" y="45215"/>
                    <a:pt x="1104931" y="69154"/>
                    <a:pt x="1104931" y="94115"/>
                  </a:cubicBezTo>
                  <a:lnTo>
                    <a:pt x="1104931" y="718685"/>
                  </a:lnTo>
                  <a:cubicBezTo>
                    <a:pt x="1104931" y="770663"/>
                    <a:pt x="1062794" y="812800"/>
                    <a:pt x="1010816" y="812800"/>
                  </a:cubicBezTo>
                  <a:lnTo>
                    <a:pt x="94115" y="812800"/>
                  </a:lnTo>
                  <a:cubicBezTo>
                    <a:pt x="42137" y="812800"/>
                    <a:pt x="0" y="770663"/>
                    <a:pt x="0" y="718685"/>
                  </a:cubicBezTo>
                  <a:lnTo>
                    <a:pt x="0" y="94115"/>
                  </a:lnTo>
                  <a:cubicBezTo>
                    <a:pt x="0" y="42137"/>
                    <a:pt x="42137" y="0"/>
                    <a:pt x="94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1104931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613293" y="6624390"/>
            <a:ext cx="4061168" cy="3086100"/>
            <a:chOff x="0" y="0"/>
            <a:chExt cx="1069608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9608" cy="812800"/>
            </a:xfrm>
            <a:custGeom>
              <a:avLst/>
              <a:gdLst/>
              <a:ahLst/>
              <a:cxnLst/>
              <a:rect l="l" t="t" r="r" b="b"/>
              <a:pathLst>
                <a:path w="1069608" h="812800">
                  <a:moveTo>
                    <a:pt x="97223" y="0"/>
                  </a:moveTo>
                  <a:lnTo>
                    <a:pt x="972385" y="0"/>
                  </a:lnTo>
                  <a:cubicBezTo>
                    <a:pt x="1026080" y="0"/>
                    <a:pt x="1069608" y="43528"/>
                    <a:pt x="1069608" y="97223"/>
                  </a:cubicBezTo>
                  <a:lnTo>
                    <a:pt x="1069608" y="715577"/>
                  </a:lnTo>
                  <a:cubicBezTo>
                    <a:pt x="1069608" y="769272"/>
                    <a:pt x="1026080" y="812800"/>
                    <a:pt x="972385" y="812800"/>
                  </a:cubicBezTo>
                  <a:lnTo>
                    <a:pt x="97223" y="812800"/>
                  </a:lnTo>
                  <a:cubicBezTo>
                    <a:pt x="43528" y="812800"/>
                    <a:pt x="0" y="769272"/>
                    <a:pt x="0" y="715577"/>
                  </a:cubicBezTo>
                  <a:lnTo>
                    <a:pt x="0" y="97223"/>
                  </a:lnTo>
                  <a:cubicBezTo>
                    <a:pt x="0" y="43528"/>
                    <a:pt x="43528" y="0"/>
                    <a:pt x="972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38100"/>
              <a:ext cx="1069608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76500" y="2678387"/>
            <a:ext cx="3645728" cy="3086100"/>
            <a:chOff x="0" y="0"/>
            <a:chExt cx="960192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60192" cy="812800"/>
            </a:xfrm>
            <a:custGeom>
              <a:avLst/>
              <a:gdLst/>
              <a:ahLst/>
              <a:cxnLst/>
              <a:rect l="l" t="t" r="r" b="b"/>
              <a:pathLst>
                <a:path w="960192" h="812800">
                  <a:moveTo>
                    <a:pt x="108302" y="0"/>
                  </a:moveTo>
                  <a:lnTo>
                    <a:pt x="851890" y="0"/>
                  </a:lnTo>
                  <a:cubicBezTo>
                    <a:pt x="911704" y="0"/>
                    <a:pt x="960192" y="48488"/>
                    <a:pt x="960192" y="108302"/>
                  </a:cubicBezTo>
                  <a:lnTo>
                    <a:pt x="960192" y="704498"/>
                  </a:lnTo>
                  <a:cubicBezTo>
                    <a:pt x="960192" y="764312"/>
                    <a:pt x="911704" y="812800"/>
                    <a:pt x="851890" y="812800"/>
                  </a:cubicBezTo>
                  <a:lnTo>
                    <a:pt x="108302" y="812800"/>
                  </a:lnTo>
                  <a:cubicBezTo>
                    <a:pt x="48488" y="812800"/>
                    <a:pt x="0" y="764312"/>
                    <a:pt x="0" y="704498"/>
                  </a:cubicBezTo>
                  <a:lnTo>
                    <a:pt x="0" y="108302"/>
                  </a:lnTo>
                  <a:cubicBezTo>
                    <a:pt x="0" y="48488"/>
                    <a:pt x="48488" y="0"/>
                    <a:pt x="1083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960192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915902" y="2647302"/>
            <a:ext cx="4343398" cy="3086100"/>
            <a:chOff x="0" y="0"/>
            <a:chExt cx="114394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3940" cy="812800"/>
            </a:xfrm>
            <a:custGeom>
              <a:avLst/>
              <a:gdLst/>
              <a:ahLst/>
              <a:cxnLst/>
              <a:rect l="l" t="t" r="r" b="b"/>
              <a:pathLst>
                <a:path w="1143940" h="812800">
                  <a:moveTo>
                    <a:pt x="90905" y="0"/>
                  </a:moveTo>
                  <a:lnTo>
                    <a:pt x="1053035" y="0"/>
                  </a:lnTo>
                  <a:cubicBezTo>
                    <a:pt x="1077144" y="0"/>
                    <a:pt x="1100267" y="9577"/>
                    <a:pt x="1117315" y="26626"/>
                  </a:cubicBezTo>
                  <a:cubicBezTo>
                    <a:pt x="1134363" y="43674"/>
                    <a:pt x="1143940" y="66796"/>
                    <a:pt x="1143940" y="90905"/>
                  </a:cubicBezTo>
                  <a:lnTo>
                    <a:pt x="1143940" y="721895"/>
                  </a:lnTo>
                  <a:cubicBezTo>
                    <a:pt x="1143940" y="772100"/>
                    <a:pt x="1103241" y="812800"/>
                    <a:pt x="1053035" y="812800"/>
                  </a:cubicBezTo>
                  <a:lnTo>
                    <a:pt x="90905" y="812800"/>
                  </a:lnTo>
                  <a:cubicBezTo>
                    <a:pt x="40700" y="812800"/>
                    <a:pt x="0" y="772100"/>
                    <a:pt x="0" y="721895"/>
                  </a:cubicBezTo>
                  <a:lnTo>
                    <a:pt x="0" y="90905"/>
                  </a:lnTo>
                  <a:cubicBezTo>
                    <a:pt x="0" y="40700"/>
                    <a:pt x="40700" y="0"/>
                    <a:pt x="909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0" y="38100"/>
              <a:ext cx="114394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912711" y="6624390"/>
            <a:ext cx="4399074" cy="3086100"/>
            <a:chOff x="0" y="0"/>
            <a:chExt cx="1158604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58604" cy="812800"/>
            </a:xfrm>
            <a:custGeom>
              <a:avLst/>
              <a:gdLst/>
              <a:ahLst/>
              <a:cxnLst/>
              <a:rect l="l" t="t" r="r" b="b"/>
              <a:pathLst>
                <a:path w="1158604" h="812800">
                  <a:moveTo>
                    <a:pt x="89755" y="0"/>
                  </a:moveTo>
                  <a:lnTo>
                    <a:pt x="1068849" y="0"/>
                  </a:lnTo>
                  <a:cubicBezTo>
                    <a:pt x="1092653" y="0"/>
                    <a:pt x="1115483" y="9456"/>
                    <a:pt x="1132315" y="26289"/>
                  </a:cubicBezTo>
                  <a:cubicBezTo>
                    <a:pt x="1149147" y="43121"/>
                    <a:pt x="1158604" y="65950"/>
                    <a:pt x="1158604" y="89755"/>
                  </a:cubicBezTo>
                  <a:lnTo>
                    <a:pt x="1158604" y="723045"/>
                  </a:lnTo>
                  <a:cubicBezTo>
                    <a:pt x="1158604" y="772615"/>
                    <a:pt x="1118419" y="812800"/>
                    <a:pt x="1068849" y="812800"/>
                  </a:cubicBezTo>
                  <a:lnTo>
                    <a:pt x="89755" y="812800"/>
                  </a:lnTo>
                  <a:cubicBezTo>
                    <a:pt x="40185" y="812800"/>
                    <a:pt x="0" y="772615"/>
                    <a:pt x="0" y="723045"/>
                  </a:cubicBezTo>
                  <a:lnTo>
                    <a:pt x="0" y="89755"/>
                  </a:lnTo>
                  <a:cubicBezTo>
                    <a:pt x="0" y="40185"/>
                    <a:pt x="40185" y="0"/>
                    <a:pt x="897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38100"/>
              <a:ext cx="1158604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2613293" y="3030919"/>
            <a:ext cx="460827" cy="460827"/>
          </a:xfrm>
          <a:custGeom>
            <a:avLst/>
            <a:gdLst/>
            <a:ahLst/>
            <a:cxnLst/>
            <a:rect l="l" t="t" r="r" b="b"/>
            <a:pathLst>
              <a:path w="460827" h="460827">
                <a:moveTo>
                  <a:pt x="0" y="0"/>
                </a:moveTo>
                <a:lnTo>
                  <a:pt x="460827" y="0"/>
                </a:lnTo>
                <a:lnTo>
                  <a:pt x="460827" y="460827"/>
                </a:lnTo>
                <a:lnTo>
                  <a:pt x="0" y="460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326543" y="1451402"/>
            <a:ext cx="13516991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</a:pPr>
            <a:r>
              <a:rPr lang="en-US" sz="6999" b="1" spc="104">
                <a:solidFill>
                  <a:srgbClr val="4ADEDD"/>
                </a:solidFill>
                <a:latin typeface="Pattanakarn Semi-Bold"/>
                <a:ea typeface="Pattanakarn Semi-Bold"/>
                <a:cs typeface="Pattanakarn Semi-Bold"/>
                <a:sym typeface="Pattanakarn Semi-Bold"/>
              </a:rPr>
              <a:t>Technologies &amp; Tools Used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67566" y="3078544"/>
            <a:ext cx="1382132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b="1" spc="50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Python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36128" y="3446845"/>
            <a:ext cx="3222893" cy="173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Core Development Language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Used to implement the scanning logic, modules, and security checks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85039" y="3081084"/>
            <a:ext cx="308610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🔎 Nmap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68920" y="3081084"/>
            <a:ext cx="308610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🌐 Requests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56314" y="7110278"/>
            <a:ext cx="308610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🕷️ HTML Parsing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85039" y="7110278"/>
            <a:ext cx="388751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📦 Modular Architecture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12130" y="7110278"/>
            <a:ext cx="249364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🐙 Git &amp; GitHub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63383" y="3808795"/>
            <a:ext cx="4109165" cy="144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Network &amp; Service Discovery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Used for port scanning, service detection, and reconnaissance.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48449" y="3651340"/>
            <a:ext cx="3740481" cy="114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3"/>
              </a:lnSpc>
              <a:spcBef>
                <a:spcPct val="0"/>
              </a:spcBef>
            </a:pPr>
            <a:r>
              <a:rPr lang="en-US" sz="2263" spc="45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HTTP Analysis</a:t>
            </a:r>
          </a:p>
          <a:p>
            <a:pPr algn="l">
              <a:lnSpc>
                <a:spcPts val="2263"/>
              </a:lnSpc>
              <a:spcBef>
                <a:spcPct val="0"/>
              </a:spcBef>
            </a:pPr>
            <a:r>
              <a:rPr lang="en-US" sz="2263" spc="45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Used to send HTTP requests and analyze web responses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819047" y="7604830"/>
            <a:ext cx="3855415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Endpoint Discovery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Used to parse web pages and identify available links/endpoints.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56248" y="7604830"/>
            <a:ext cx="4017453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Extensible Design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Security functionality is separated into independent modules.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370036" y="7523480"/>
            <a:ext cx="3889264" cy="173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Version Control &amp; Collaboration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Used to manage the source code and collaborate on the project.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833" r="-15276" b="-7729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-338743" y="40075"/>
            <a:ext cx="22334720" cy="10246925"/>
            <a:chOff x="0" y="0"/>
            <a:chExt cx="5882395" cy="26987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82395" cy="2698779"/>
            </a:xfrm>
            <a:custGeom>
              <a:avLst/>
              <a:gdLst/>
              <a:ahLst/>
              <a:cxnLst/>
              <a:rect l="l" t="t" r="r" b="b"/>
              <a:pathLst>
                <a:path w="5882395" h="2698779">
                  <a:moveTo>
                    <a:pt x="0" y="0"/>
                  </a:moveTo>
                  <a:lnTo>
                    <a:pt x="5882395" y="0"/>
                  </a:lnTo>
                  <a:lnTo>
                    <a:pt x="5882395" y="2698779"/>
                  </a:lnTo>
                  <a:lnTo>
                    <a:pt x="0" y="2698779"/>
                  </a:lnTo>
                  <a:close/>
                </a:path>
              </a:pathLst>
            </a:custGeom>
            <a:gradFill rotWithShape="1">
              <a:gsLst>
                <a:gs pos="0">
                  <a:srgbClr val="02051F">
                    <a:alpha val="100000"/>
                  </a:srgbClr>
                </a:gs>
                <a:gs pos="50000">
                  <a:srgbClr val="02051E">
                    <a:alpha val="96000"/>
                  </a:srgbClr>
                </a:gs>
                <a:gs pos="100000">
                  <a:srgbClr val="05699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882395" cy="2679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>
            <a:off x="12173701" y="7072178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7237266" y="0"/>
                </a:moveTo>
                <a:lnTo>
                  <a:pt x="0" y="0"/>
                </a:lnTo>
                <a:lnTo>
                  <a:pt x="0" y="5276624"/>
                </a:lnTo>
                <a:lnTo>
                  <a:pt x="7237266" y="5276624"/>
                </a:lnTo>
                <a:lnTo>
                  <a:pt x="7237266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92334" y="-1023451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5" y="0"/>
                </a:lnTo>
                <a:lnTo>
                  <a:pt x="7237265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3858632" y="-2598237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5" y="0"/>
                </a:lnTo>
                <a:lnTo>
                  <a:pt x="7237265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73298" y="9413730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40"/>
                </a:lnTo>
                <a:lnTo>
                  <a:pt x="0" y="1746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55180" y="-438013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0" y="0"/>
                </a:lnTo>
                <a:lnTo>
                  <a:pt x="1499840" y="1746540"/>
                </a:lnTo>
                <a:lnTo>
                  <a:pt x="0" y="1746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89220" y="3306846"/>
            <a:ext cx="6060857" cy="5983987"/>
            <a:chOff x="0" y="0"/>
            <a:chExt cx="1596275" cy="15760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96275" cy="1576029"/>
            </a:xfrm>
            <a:custGeom>
              <a:avLst/>
              <a:gdLst/>
              <a:ahLst/>
              <a:cxnLst/>
              <a:rect l="l" t="t" r="r" b="b"/>
              <a:pathLst>
                <a:path w="1596275" h="1576029">
                  <a:moveTo>
                    <a:pt x="65146" y="0"/>
                  </a:moveTo>
                  <a:lnTo>
                    <a:pt x="1531129" y="0"/>
                  </a:lnTo>
                  <a:cubicBezTo>
                    <a:pt x="1567108" y="0"/>
                    <a:pt x="1596275" y="29167"/>
                    <a:pt x="1596275" y="65146"/>
                  </a:cubicBezTo>
                  <a:lnTo>
                    <a:pt x="1596275" y="1510884"/>
                  </a:lnTo>
                  <a:cubicBezTo>
                    <a:pt x="1596275" y="1546863"/>
                    <a:pt x="1567108" y="1576029"/>
                    <a:pt x="1531129" y="1576029"/>
                  </a:cubicBezTo>
                  <a:lnTo>
                    <a:pt x="65146" y="1576029"/>
                  </a:lnTo>
                  <a:cubicBezTo>
                    <a:pt x="29167" y="1576029"/>
                    <a:pt x="0" y="1546863"/>
                    <a:pt x="0" y="1510884"/>
                  </a:cubicBezTo>
                  <a:lnTo>
                    <a:pt x="0" y="65146"/>
                  </a:lnTo>
                  <a:cubicBezTo>
                    <a:pt x="0" y="29167"/>
                    <a:pt x="29167" y="0"/>
                    <a:pt x="651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1596275" cy="1537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63617" y="3526127"/>
            <a:ext cx="6890653" cy="5575028"/>
            <a:chOff x="0" y="0"/>
            <a:chExt cx="1814822" cy="14683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14822" cy="1468320"/>
            </a:xfrm>
            <a:custGeom>
              <a:avLst/>
              <a:gdLst/>
              <a:ahLst/>
              <a:cxnLst/>
              <a:rect l="l" t="t" r="r" b="b"/>
              <a:pathLst>
                <a:path w="1814822" h="1468320">
                  <a:moveTo>
                    <a:pt x="57301" y="0"/>
                  </a:moveTo>
                  <a:lnTo>
                    <a:pt x="1757522" y="0"/>
                  </a:lnTo>
                  <a:cubicBezTo>
                    <a:pt x="1789168" y="0"/>
                    <a:pt x="1814822" y="25654"/>
                    <a:pt x="1814822" y="57301"/>
                  </a:cubicBezTo>
                  <a:lnTo>
                    <a:pt x="1814822" y="1411020"/>
                  </a:lnTo>
                  <a:cubicBezTo>
                    <a:pt x="1814822" y="1426217"/>
                    <a:pt x="1808785" y="1440791"/>
                    <a:pt x="1798039" y="1451537"/>
                  </a:cubicBezTo>
                  <a:cubicBezTo>
                    <a:pt x="1787293" y="1462283"/>
                    <a:pt x="1772719" y="1468320"/>
                    <a:pt x="1757522" y="1468320"/>
                  </a:cubicBezTo>
                  <a:lnTo>
                    <a:pt x="57301" y="1468320"/>
                  </a:lnTo>
                  <a:cubicBezTo>
                    <a:pt x="42103" y="1468320"/>
                    <a:pt x="27529" y="1462283"/>
                    <a:pt x="16783" y="1451537"/>
                  </a:cubicBezTo>
                  <a:cubicBezTo>
                    <a:pt x="6037" y="1440791"/>
                    <a:pt x="0" y="1426217"/>
                    <a:pt x="0" y="1411020"/>
                  </a:cubicBezTo>
                  <a:lnTo>
                    <a:pt x="0" y="57301"/>
                  </a:lnTo>
                  <a:cubicBezTo>
                    <a:pt x="0" y="42103"/>
                    <a:pt x="6037" y="27529"/>
                    <a:pt x="16783" y="16783"/>
                  </a:cubicBezTo>
                  <a:cubicBezTo>
                    <a:pt x="27529" y="6037"/>
                    <a:pt x="42103" y="0"/>
                    <a:pt x="573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38100"/>
              <a:ext cx="1814822" cy="1430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689808" y="9258300"/>
            <a:ext cx="15018063" cy="656745"/>
            <a:chOff x="0" y="0"/>
            <a:chExt cx="3955375" cy="1729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55375" cy="172970"/>
            </a:xfrm>
            <a:custGeom>
              <a:avLst/>
              <a:gdLst/>
              <a:ahLst/>
              <a:cxnLst/>
              <a:rect l="l" t="t" r="r" b="b"/>
              <a:pathLst>
                <a:path w="3955375" h="172970">
                  <a:moveTo>
                    <a:pt x="26291" y="0"/>
                  </a:moveTo>
                  <a:lnTo>
                    <a:pt x="3929084" y="0"/>
                  </a:lnTo>
                  <a:cubicBezTo>
                    <a:pt x="3936057" y="0"/>
                    <a:pt x="3942744" y="2770"/>
                    <a:pt x="3947675" y="7700"/>
                  </a:cubicBezTo>
                  <a:cubicBezTo>
                    <a:pt x="3952605" y="12631"/>
                    <a:pt x="3955375" y="19318"/>
                    <a:pt x="3955375" y="26291"/>
                  </a:cubicBezTo>
                  <a:lnTo>
                    <a:pt x="3955375" y="146679"/>
                  </a:lnTo>
                  <a:cubicBezTo>
                    <a:pt x="3955375" y="153652"/>
                    <a:pt x="3952605" y="160339"/>
                    <a:pt x="3947675" y="165269"/>
                  </a:cubicBezTo>
                  <a:cubicBezTo>
                    <a:pt x="3942744" y="170200"/>
                    <a:pt x="3936057" y="172970"/>
                    <a:pt x="3929084" y="172970"/>
                  </a:cubicBezTo>
                  <a:lnTo>
                    <a:pt x="26291" y="172970"/>
                  </a:lnTo>
                  <a:cubicBezTo>
                    <a:pt x="11771" y="172970"/>
                    <a:pt x="0" y="161199"/>
                    <a:pt x="0" y="146679"/>
                  </a:cubicBezTo>
                  <a:lnTo>
                    <a:pt x="0" y="26291"/>
                  </a:lnTo>
                  <a:cubicBezTo>
                    <a:pt x="0" y="19318"/>
                    <a:pt x="2770" y="12631"/>
                    <a:pt x="7700" y="7700"/>
                  </a:cubicBezTo>
                  <a:cubicBezTo>
                    <a:pt x="12631" y="2770"/>
                    <a:pt x="19318" y="0"/>
                    <a:pt x="26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3955375" cy="134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53347" y="1451402"/>
            <a:ext cx="9926759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b="1" spc="104">
                <a:solidFill>
                  <a:srgbClr val="4ADEDD"/>
                </a:solidFill>
                <a:latin typeface="Pattanakarn Semi-Bold"/>
                <a:ea typeface="Pattanakarn Semi-Bold"/>
                <a:cs typeface="Pattanakarn Semi-Bold"/>
                <a:sym typeface="Pattanakarn Semi-Bold"/>
              </a:rPr>
              <a:t>Conclusion &amp; Future Improvements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17683" y="3782638"/>
            <a:ext cx="3541633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✅ What We Achieved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99473" y="4440164"/>
            <a:ext cx="561894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Automated Reconnaissance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Discover open ports, services, and web endpoints.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Web Security Analysis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Analyze HTTP responses and application information.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Vulnerability Detection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Perform automated checks for selected common vulnerabilities.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Security Configuration Analysis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Identify potential weaknesses in headers, cookies, and configurations.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Modular Architecture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Provide a flexible structure that can be extended with new security modules</a:t>
            </a:r>
            <a:r>
              <a:rPr lang="en-US" sz="2300" spc="46" dirty="0">
                <a:solidFill>
                  <a:srgbClr val="000000"/>
                </a:solidFill>
                <a:latin typeface="Gotham Light"/>
                <a:ea typeface="Gotham Light"/>
                <a:cs typeface="Gotham Light"/>
                <a:sym typeface="Gotham Light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28617" y="3467843"/>
            <a:ext cx="392656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b="1" spc="48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🚀 Future Improvements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53703" y="4099799"/>
            <a:ext cx="5018081" cy="487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More Vulnerability Checks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Expand coverage to additional OWASP vulnerabilities.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Improved Reporting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Generate detailed HTML/PDF reports with severity and recommendations.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Better Detection Accuracy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Reduce false positives through more advanced response analysis.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Authentication Support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Add scanning for authenticated web applications.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b="1" spc="46" dirty="0">
                <a:solidFill>
                  <a:srgbClr val="BFFEF0"/>
                </a:solidFill>
                <a:latin typeface="Gotham Bold"/>
                <a:ea typeface="Gotham Bold"/>
                <a:cs typeface="Gotham Bold"/>
                <a:sym typeface="Gotham Bold"/>
              </a:rPr>
              <a:t>Enhanced Automation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46" dirty="0">
                <a:solidFill>
                  <a:srgbClr val="BFFEF0"/>
                </a:solidFill>
                <a:latin typeface="Gotham Light"/>
                <a:ea typeface="Gotham Light"/>
                <a:cs typeface="Gotham Light"/>
                <a:sym typeface="Gotham Light"/>
              </a:rPr>
              <a:t> Allow multiple targets and scheduled assessments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17683" y="9451830"/>
            <a:ext cx="14790188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2300" b="1" spc="46">
                <a:solidFill>
                  <a:srgbClr val="03102D"/>
                </a:solidFill>
                <a:latin typeface="Gotham Bold"/>
                <a:ea typeface="Gotham Bold"/>
                <a:cs typeface="Gotham Bold"/>
                <a:sym typeface="Gotham Bold"/>
              </a:rPr>
              <a:t>VulCheck provides a lightweight and extensible foundation for automated security assessment.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364432">
            <a:off x="12913711" y="5048148"/>
            <a:ext cx="6976102" cy="69761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4558414">
            <a:off x="-776986" y="-7509656"/>
            <a:ext cx="14504378" cy="1450437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6899">
                    <a:alpha val="100000"/>
                  </a:srgbClr>
                </a:gs>
                <a:gs pos="100000">
                  <a:srgbClr val="02102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5268869" y="466831"/>
            <a:ext cx="3940181" cy="1035746"/>
          </a:xfrm>
          <a:custGeom>
            <a:avLst/>
            <a:gdLst/>
            <a:ahLst/>
            <a:cxnLst/>
            <a:rect l="l" t="t" r="r" b="b"/>
            <a:pathLst>
              <a:path w="3940181" h="1035746">
                <a:moveTo>
                  <a:pt x="3940182" y="0"/>
                </a:moveTo>
                <a:lnTo>
                  <a:pt x="0" y="0"/>
                </a:lnTo>
                <a:lnTo>
                  <a:pt x="0" y="1035746"/>
                </a:lnTo>
                <a:lnTo>
                  <a:pt x="3940182" y="1035746"/>
                </a:lnTo>
                <a:lnTo>
                  <a:pt x="39401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70322" y="9423214"/>
            <a:ext cx="3657600" cy="638417"/>
          </a:xfrm>
          <a:custGeom>
            <a:avLst/>
            <a:gdLst/>
            <a:ahLst/>
            <a:cxnLst/>
            <a:rect l="l" t="t" r="r" b="b"/>
            <a:pathLst>
              <a:path w="3657600" h="638417">
                <a:moveTo>
                  <a:pt x="0" y="0"/>
                </a:moveTo>
                <a:lnTo>
                  <a:pt x="3657600" y="0"/>
                </a:lnTo>
                <a:lnTo>
                  <a:pt x="3657600" y="638417"/>
                </a:lnTo>
                <a:lnTo>
                  <a:pt x="0" y="638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8363306">
            <a:off x="-463932" y="5705724"/>
            <a:ext cx="1321055" cy="1538347"/>
          </a:xfrm>
          <a:custGeom>
            <a:avLst/>
            <a:gdLst/>
            <a:ahLst/>
            <a:cxnLst/>
            <a:rect l="l" t="t" r="r" b="b"/>
            <a:pathLst>
              <a:path w="1321055" h="1538347">
                <a:moveTo>
                  <a:pt x="0" y="0"/>
                </a:moveTo>
                <a:lnTo>
                  <a:pt x="1321055" y="0"/>
                </a:lnTo>
                <a:lnTo>
                  <a:pt x="1321055" y="1538346"/>
                </a:lnTo>
                <a:lnTo>
                  <a:pt x="0" y="1538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3167140" y="-117521"/>
            <a:ext cx="901365" cy="1049624"/>
          </a:xfrm>
          <a:custGeom>
            <a:avLst/>
            <a:gdLst/>
            <a:ahLst/>
            <a:cxnLst/>
            <a:rect l="l" t="t" r="r" b="b"/>
            <a:pathLst>
              <a:path w="901365" h="1049624">
                <a:moveTo>
                  <a:pt x="0" y="0"/>
                </a:moveTo>
                <a:lnTo>
                  <a:pt x="901365" y="0"/>
                </a:lnTo>
                <a:lnTo>
                  <a:pt x="901365" y="1049625"/>
                </a:lnTo>
                <a:lnTo>
                  <a:pt x="0" y="104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32593" y="338072"/>
            <a:ext cx="959089" cy="9590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50">
                  <a:solidFill>
                    <a:srgbClr val="03102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13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4094148"/>
            <a:ext cx="18288000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sz="9999" b="1" spc="19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Thank You for Your Attention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-4074028" y="1297161"/>
            <a:ext cx="8216663" cy="2159895"/>
          </a:xfrm>
          <a:custGeom>
            <a:avLst/>
            <a:gdLst/>
            <a:ahLst/>
            <a:cxnLst/>
            <a:rect l="l" t="t" r="r" b="b"/>
            <a:pathLst>
              <a:path w="8216663" h="2159895">
                <a:moveTo>
                  <a:pt x="8216663" y="0"/>
                </a:moveTo>
                <a:lnTo>
                  <a:pt x="0" y="0"/>
                </a:lnTo>
                <a:lnTo>
                  <a:pt x="0" y="2159895"/>
                </a:lnTo>
                <a:lnTo>
                  <a:pt x="8216663" y="2159895"/>
                </a:lnTo>
                <a:lnTo>
                  <a:pt x="82166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600266" y="7929774"/>
            <a:ext cx="9470707" cy="150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5400" dirty="0" err="1">
                <a:solidFill>
                  <a:schemeClr val="bg1"/>
                </a:solidFill>
              </a:rPr>
              <a:t>Vulneraptor</a:t>
            </a:r>
            <a:endParaRPr lang="en-US" sz="5000" b="1" spc="100" dirty="0">
              <a:solidFill>
                <a:schemeClr val="bg1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 spc="100" dirty="0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 Lightweight Automated Security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947</Words>
  <Application>Microsoft Office PowerPoint</Application>
  <PresentationFormat>Custom</PresentationFormat>
  <Paragraphs>263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Calibri</vt:lpstr>
      <vt:lpstr>Pattanakarn Medium</vt:lpstr>
      <vt:lpstr>Nunito Bold</vt:lpstr>
      <vt:lpstr>Arial</vt:lpstr>
      <vt:lpstr>Pattanakarn Semi-Bold</vt:lpstr>
      <vt:lpstr>Inter</vt:lpstr>
      <vt:lpstr>Inter Light</vt:lpstr>
      <vt:lpstr>Inter Bold</vt:lpstr>
      <vt:lpstr>Pattanakarn Bold</vt:lpstr>
      <vt:lpstr>Canva Student Font</vt:lpstr>
      <vt:lpstr>Gotham</vt:lpstr>
      <vt:lpstr>Gotham Bold</vt:lpstr>
      <vt:lpstr>Gotham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Modern Tech Cyber Security Presentation</dc:title>
  <cp:lastModifiedBy>Khaled Ahmed</cp:lastModifiedBy>
  <cp:revision>3</cp:revision>
  <dcterms:created xsi:type="dcterms:W3CDTF">2006-08-16T00:00:00Z</dcterms:created>
  <dcterms:modified xsi:type="dcterms:W3CDTF">2026-08-28T14:05:24Z</dcterms:modified>
  <dc:identifier>DAHTRMFCrmo</dc:identifier>
</cp:coreProperties>
</file>